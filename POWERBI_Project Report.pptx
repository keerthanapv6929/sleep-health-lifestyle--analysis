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4334" r:id="rId1"/>
  </p:sldMasterIdLst>
  <p:notesMasterIdLst>
    <p:notesMasterId r:id="rId25"/>
  </p:notesMasterIdLst>
  <p:sldIdLst>
    <p:sldId id="301" r:id="rId2"/>
    <p:sldId id="256" r:id="rId3"/>
    <p:sldId id="257" r:id="rId4"/>
    <p:sldId id="258" r:id="rId5"/>
    <p:sldId id="261" r:id="rId6"/>
    <p:sldId id="285" r:id="rId7"/>
    <p:sldId id="289" r:id="rId8"/>
    <p:sldId id="290" r:id="rId9"/>
    <p:sldId id="291" r:id="rId10"/>
    <p:sldId id="268" r:id="rId11"/>
    <p:sldId id="292" r:id="rId12"/>
    <p:sldId id="293" r:id="rId13"/>
    <p:sldId id="282" r:id="rId14"/>
    <p:sldId id="294" r:id="rId15"/>
    <p:sldId id="296" r:id="rId16"/>
    <p:sldId id="295" r:id="rId17"/>
    <p:sldId id="297" r:id="rId18"/>
    <p:sldId id="298" r:id="rId19"/>
    <p:sldId id="299" r:id="rId20"/>
    <p:sldId id="275" r:id="rId21"/>
    <p:sldId id="274" r:id="rId22"/>
    <p:sldId id="300" r:id="rId23"/>
    <p:sldId id="277" r:id="rId24"/>
  </p:sldIdLst>
  <p:sldSz cx="9144000" cy="5143500" type="screen16x9"/>
  <p:notesSz cx="6858000" cy="9144000"/>
  <p:embeddedFontLst>
    <p:embeddedFont>
      <p:font typeface="Consolas" panose="020B0609020204030204" pitchFamily="49" charset="0"/>
      <p:regular r:id="rId26"/>
      <p:bold r:id="rId27"/>
      <p:italic r:id="rId28"/>
      <p:boldItalic r:id="rId29"/>
    </p:embeddedFont>
    <p:embeddedFont>
      <p:font typeface="Trebuchet MS" panose="020B0603020202020204" pitchFamily="34" charset="0"/>
      <p:regular r:id="rId30"/>
      <p:bold r:id="rId31"/>
      <p:italic r:id="rId32"/>
      <p:boldItalic r:id="rId33"/>
    </p:embeddedFont>
    <p:embeddedFont>
      <p:font typeface="Wingdings 3" panose="05040102010807070707" pitchFamily="18" charset="2"/>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307" dt="2026-09-26T16:15:16.396"/>
    <p1510:client id="{0DE6970A-E140-40DB-B06A-F735CF3E3884}" v="1" dt="2026-09-28T04:50:26.698"/>
    <p1510:client id="{AD8EE226-1F59-AE3D-24CE-4EE64DF37C12}" v="754" dt="2026-09-26T18:28:41.584"/>
    <p1510:client id="{E5C626B7-E64C-4111-83B6-73868D63C5C8}" v="8" dt="2026-09-26T18:58:27.899"/>
  </p1510:revLst>
</p1510:revInfo>
</file>

<file path=ppt/tableStyles.xml><?xml version="1.0" encoding="utf-8"?>
<a:tblStyleLst xmlns:a="http://schemas.openxmlformats.org/drawingml/2006/main" def="{8D5E4F97-532A-4A7D-AFD4-1A7792D0E35F}">
  <a:tblStyle styleId="{8D5E4F97-532A-4A7D-AFD4-1A7792D0E35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6" d="100"/>
          <a:sy n="106" d="100"/>
        </p:scale>
        <p:origin x="543" y="45"/>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F93CD77-FB3C-4BE8-B6EC-6C216A270EAA}"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EA0368D1-6EAF-4EB6-8524-30CEBB101C8A}">
      <dgm:prSet/>
      <dgm:spPr/>
      <dgm:t>
        <a:bodyPr/>
        <a:lstStyle/>
        <a:p>
          <a:r>
            <a:rPr lang="en-US"/>
            <a:t>The Sleep Health and Lifestyle Dataset comprises close to 400 rows and 13 columns, covering a wide range of variables related to sleep and daily habits — including gender, age, occupation, sleep duration, quality of sleep, physical activity level, stress levels, BMI category, blood pressure, heart rate, daily steps, and the presence or absence of sleep disorders.</a:t>
          </a:r>
        </a:p>
      </dgm:t>
    </dgm:pt>
    <dgm:pt modelId="{F1FA39A6-5CCE-4A2B-A50C-745DC3085858}" type="parTrans" cxnId="{87628EB5-4DA8-49F5-A9B4-E954CA0FE689}">
      <dgm:prSet/>
      <dgm:spPr/>
      <dgm:t>
        <a:bodyPr/>
        <a:lstStyle/>
        <a:p>
          <a:endParaRPr lang="en-US"/>
        </a:p>
      </dgm:t>
    </dgm:pt>
    <dgm:pt modelId="{A8EB54E6-9AFC-463A-9079-E60D32A05134}" type="sibTrans" cxnId="{87628EB5-4DA8-49F5-A9B4-E954CA0FE689}">
      <dgm:prSet/>
      <dgm:spPr/>
      <dgm:t>
        <a:bodyPr/>
        <a:lstStyle/>
        <a:p>
          <a:endParaRPr lang="en-US"/>
        </a:p>
      </dgm:t>
    </dgm:pt>
    <dgm:pt modelId="{44D6F27E-2BB5-4408-801F-7857D291670A}">
      <dgm:prSet/>
      <dgm:spPr/>
      <dgm:t>
        <a:bodyPr/>
        <a:lstStyle/>
        <a:p>
          <a:r>
            <a:rPr lang="en-US" b="1"/>
            <a:t>Comprehensive Sleep Metrics:</a:t>
          </a:r>
          <a:r>
            <a:rPr lang="en-US"/>
            <a:t> Sleep duration, quality, and the factors influencing sleep patterns </a:t>
          </a:r>
        </a:p>
      </dgm:t>
    </dgm:pt>
    <dgm:pt modelId="{F5FC1655-619F-41DE-9D84-F6C15A30FA45}" type="parTrans" cxnId="{60AB9D9C-A98C-4AF2-9786-F92B0A7C9ABE}">
      <dgm:prSet/>
      <dgm:spPr/>
      <dgm:t>
        <a:bodyPr/>
        <a:lstStyle/>
        <a:p>
          <a:endParaRPr lang="en-US"/>
        </a:p>
      </dgm:t>
    </dgm:pt>
    <dgm:pt modelId="{864BC09A-38D6-4E4E-801C-4561DD02D4D1}" type="sibTrans" cxnId="{60AB9D9C-A98C-4AF2-9786-F92B0A7C9ABE}">
      <dgm:prSet/>
      <dgm:spPr/>
      <dgm:t>
        <a:bodyPr/>
        <a:lstStyle/>
        <a:p>
          <a:endParaRPr lang="en-US"/>
        </a:p>
      </dgm:t>
    </dgm:pt>
    <dgm:pt modelId="{2255F639-7C85-4E1C-A892-A0F2A13C610C}">
      <dgm:prSet/>
      <dgm:spPr/>
      <dgm:t>
        <a:bodyPr/>
        <a:lstStyle/>
        <a:p>
          <a:r>
            <a:rPr lang="en-US" b="1"/>
            <a:t>Lifestyle Factors:</a:t>
          </a:r>
          <a:r>
            <a:rPr lang="en-US"/>
            <a:t> Physical activity levels, stress levels, and BMI categories</a:t>
          </a:r>
        </a:p>
      </dgm:t>
    </dgm:pt>
    <dgm:pt modelId="{0DB49761-4E6A-4F40-8EB4-8B08E6F75F5A}" type="parTrans" cxnId="{43289C64-3DCB-4DED-9E99-56629E0CF507}">
      <dgm:prSet/>
      <dgm:spPr/>
      <dgm:t>
        <a:bodyPr/>
        <a:lstStyle/>
        <a:p>
          <a:endParaRPr lang="en-US"/>
        </a:p>
      </dgm:t>
    </dgm:pt>
    <dgm:pt modelId="{1D8E6A69-50AB-4772-936F-75324AC5FDB2}" type="sibTrans" cxnId="{43289C64-3DCB-4DED-9E99-56629E0CF507}">
      <dgm:prSet/>
      <dgm:spPr/>
      <dgm:t>
        <a:bodyPr/>
        <a:lstStyle/>
        <a:p>
          <a:endParaRPr lang="en-US"/>
        </a:p>
      </dgm:t>
    </dgm:pt>
    <dgm:pt modelId="{D1068562-7708-4197-9302-3DCAA61C7FB6}">
      <dgm:prSet/>
      <dgm:spPr/>
      <dgm:t>
        <a:bodyPr/>
        <a:lstStyle/>
        <a:p>
          <a:r>
            <a:rPr lang="en-US" b="1"/>
            <a:t>Cardiovascular Health:</a:t>
          </a:r>
          <a:r>
            <a:rPr lang="en-US"/>
            <a:t> Blood pressure and heart rate measurements </a:t>
          </a:r>
        </a:p>
      </dgm:t>
    </dgm:pt>
    <dgm:pt modelId="{EC23FAFD-EB67-4B7D-BACC-86E000464EC9}" type="parTrans" cxnId="{230CF95F-2327-40B4-BEE6-9E4C97062D5A}">
      <dgm:prSet/>
      <dgm:spPr/>
      <dgm:t>
        <a:bodyPr/>
        <a:lstStyle/>
        <a:p>
          <a:endParaRPr lang="en-US"/>
        </a:p>
      </dgm:t>
    </dgm:pt>
    <dgm:pt modelId="{FE75795C-6BF2-48F0-BEFC-8EC9415E979A}" type="sibTrans" cxnId="{230CF95F-2327-40B4-BEE6-9E4C97062D5A}">
      <dgm:prSet/>
      <dgm:spPr/>
      <dgm:t>
        <a:bodyPr/>
        <a:lstStyle/>
        <a:p>
          <a:endParaRPr lang="en-US"/>
        </a:p>
      </dgm:t>
    </dgm:pt>
    <dgm:pt modelId="{1CF565A2-3902-4B4F-863C-A694FF61A70A}">
      <dgm:prSet/>
      <dgm:spPr/>
      <dgm:t>
        <a:bodyPr/>
        <a:lstStyle/>
        <a:p>
          <a:r>
            <a:rPr lang="en-US" b="1"/>
            <a:t>Sleep Disorder Analysis:</a:t>
          </a:r>
          <a:r>
            <a:rPr lang="en-US"/>
            <a:t> Occurrence of disorders such as Insomnia and Sleep Apnea </a:t>
          </a:r>
        </a:p>
      </dgm:t>
    </dgm:pt>
    <dgm:pt modelId="{7BF2738E-4950-4169-BB52-180C0B10C95E}" type="parTrans" cxnId="{D7784CD4-0643-4E1C-9CD2-5E9B9D78301F}">
      <dgm:prSet/>
      <dgm:spPr/>
      <dgm:t>
        <a:bodyPr/>
        <a:lstStyle/>
        <a:p>
          <a:endParaRPr lang="en-US"/>
        </a:p>
      </dgm:t>
    </dgm:pt>
    <dgm:pt modelId="{00B2ACB6-8C91-49D8-A9D8-382312D6E1CE}" type="sibTrans" cxnId="{D7784CD4-0643-4E1C-9CD2-5E9B9D78301F}">
      <dgm:prSet/>
      <dgm:spPr/>
      <dgm:t>
        <a:bodyPr/>
        <a:lstStyle/>
        <a:p>
          <a:endParaRPr lang="en-US"/>
        </a:p>
      </dgm:t>
    </dgm:pt>
    <dgm:pt modelId="{7E64E1A5-33E5-42E3-9C57-CB3C6BC8F364}" type="pres">
      <dgm:prSet presAssocID="{5F93CD77-FB3C-4BE8-B6EC-6C216A270EAA}" presName="outerComposite" presStyleCnt="0">
        <dgm:presLayoutVars>
          <dgm:chMax val="5"/>
          <dgm:dir/>
          <dgm:resizeHandles val="exact"/>
        </dgm:presLayoutVars>
      </dgm:prSet>
      <dgm:spPr/>
    </dgm:pt>
    <dgm:pt modelId="{49B5B9AE-38F2-45EA-B7EC-4D5C44FEC664}" type="pres">
      <dgm:prSet presAssocID="{5F93CD77-FB3C-4BE8-B6EC-6C216A270EAA}" presName="dummyMaxCanvas" presStyleCnt="0">
        <dgm:presLayoutVars/>
      </dgm:prSet>
      <dgm:spPr/>
    </dgm:pt>
    <dgm:pt modelId="{D372A177-5E62-43F2-8827-6D120AC87572}" type="pres">
      <dgm:prSet presAssocID="{5F93CD77-FB3C-4BE8-B6EC-6C216A270EAA}" presName="FiveNodes_1" presStyleLbl="node1" presStyleIdx="0" presStyleCnt="5">
        <dgm:presLayoutVars>
          <dgm:bulletEnabled val="1"/>
        </dgm:presLayoutVars>
      </dgm:prSet>
      <dgm:spPr/>
    </dgm:pt>
    <dgm:pt modelId="{E0ABE133-5D21-422B-A618-944C73B0B884}" type="pres">
      <dgm:prSet presAssocID="{5F93CD77-FB3C-4BE8-B6EC-6C216A270EAA}" presName="FiveNodes_2" presStyleLbl="node1" presStyleIdx="1" presStyleCnt="5">
        <dgm:presLayoutVars>
          <dgm:bulletEnabled val="1"/>
        </dgm:presLayoutVars>
      </dgm:prSet>
      <dgm:spPr/>
    </dgm:pt>
    <dgm:pt modelId="{6BBFC57E-91BF-4305-8970-382E653DA159}" type="pres">
      <dgm:prSet presAssocID="{5F93CD77-FB3C-4BE8-B6EC-6C216A270EAA}" presName="FiveNodes_3" presStyleLbl="node1" presStyleIdx="2" presStyleCnt="5">
        <dgm:presLayoutVars>
          <dgm:bulletEnabled val="1"/>
        </dgm:presLayoutVars>
      </dgm:prSet>
      <dgm:spPr/>
    </dgm:pt>
    <dgm:pt modelId="{08FE48D6-AFA1-4DBE-891A-59F1953B6B9E}" type="pres">
      <dgm:prSet presAssocID="{5F93CD77-FB3C-4BE8-B6EC-6C216A270EAA}" presName="FiveNodes_4" presStyleLbl="node1" presStyleIdx="3" presStyleCnt="5">
        <dgm:presLayoutVars>
          <dgm:bulletEnabled val="1"/>
        </dgm:presLayoutVars>
      </dgm:prSet>
      <dgm:spPr/>
    </dgm:pt>
    <dgm:pt modelId="{FF426986-E518-4EE6-8306-06361BCD7300}" type="pres">
      <dgm:prSet presAssocID="{5F93CD77-FB3C-4BE8-B6EC-6C216A270EAA}" presName="FiveNodes_5" presStyleLbl="node1" presStyleIdx="4" presStyleCnt="5">
        <dgm:presLayoutVars>
          <dgm:bulletEnabled val="1"/>
        </dgm:presLayoutVars>
      </dgm:prSet>
      <dgm:spPr/>
    </dgm:pt>
    <dgm:pt modelId="{DF5FB93C-4868-40E3-923C-CFF77AB72C97}" type="pres">
      <dgm:prSet presAssocID="{5F93CD77-FB3C-4BE8-B6EC-6C216A270EAA}" presName="FiveConn_1-2" presStyleLbl="fgAccFollowNode1" presStyleIdx="0" presStyleCnt="4">
        <dgm:presLayoutVars>
          <dgm:bulletEnabled val="1"/>
        </dgm:presLayoutVars>
      </dgm:prSet>
      <dgm:spPr/>
    </dgm:pt>
    <dgm:pt modelId="{10E4A409-A89D-424C-8D50-BE30A2591376}" type="pres">
      <dgm:prSet presAssocID="{5F93CD77-FB3C-4BE8-B6EC-6C216A270EAA}" presName="FiveConn_2-3" presStyleLbl="fgAccFollowNode1" presStyleIdx="1" presStyleCnt="4">
        <dgm:presLayoutVars>
          <dgm:bulletEnabled val="1"/>
        </dgm:presLayoutVars>
      </dgm:prSet>
      <dgm:spPr/>
    </dgm:pt>
    <dgm:pt modelId="{B1C44487-D7B1-49D7-B2CE-06DF3B98FEB8}" type="pres">
      <dgm:prSet presAssocID="{5F93CD77-FB3C-4BE8-B6EC-6C216A270EAA}" presName="FiveConn_3-4" presStyleLbl="fgAccFollowNode1" presStyleIdx="2" presStyleCnt="4">
        <dgm:presLayoutVars>
          <dgm:bulletEnabled val="1"/>
        </dgm:presLayoutVars>
      </dgm:prSet>
      <dgm:spPr/>
    </dgm:pt>
    <dgm:pt modelId="{59FDF91A-19F1-4634-A79F-7CBDC5A412F5}" type="pres">
      <dgm:prSet presAssocID="{5F93CD77-FB3C-4BE8-B6EC-6C216A270EAA}" presName="FiveConn_4-5" presStyleLbl="fgAccFollowNode1" presStyleIdx="3" presStyleCnt="4">
        <dgm:presLayoutVars>
          <dgm:bulletEnabled val="1"/>
        </dgm:presLayoutVars>
      </dgm:prSet>
      <dgm:spPr/>
    </dgm:pt>
    <dgm:pt modelId="{F7E0826C-C33A-41EC-A323-E96302CB3F5C}" type="pres">
      <dgm:prSet presAssocID="{5F93CD77-FB3C-4BE8-B6EC-6C216A270EAA}" presName="FiveNodes_1_text" presStyleLbl="node1" presStyleIdx="4" presStyleCnt="5">
        <dgm:presLayoutVars>
          <dgm:bulletEnabled val="1"/>
        </dgm:presLayoutVars>
      </dgm:prSet>
      <dgm:spPr/>
    </dgm:pt>
    <dgm:pt modelId="{22B39D01-FF77-4AB3-8678-86B7F4493824}" type="pres">
      <dgm:prSet presAssocID="{5F93CD77-FB3C-4BE8-B6EC-6C216A270EAA}" presName="FiveNodes_2_text" presStyleLbl="node1" presStyleIdx="4" presStyleCnt="5">
        <dgm:presLayoutVars>
          <dgm:bulletEnabled val="1"/>
        </dgm:presLayoutVars>
      </dgm:prSet>
      <dgm:spPr/>
    </dgm:pt>
    <dgm:pt modelId="{4D8D1FF3-05D8-4B68-B6A4-44700754D416}" type="pres">
      <dgm:prSet presAssocID="{5F93CD77-FB3C-4BE8-B6EC-6C216A270EAA}" presName="FiveNodes_3_text" presStyleLbl="node1" presStyleIdx="4" presStyleCnt="5">
        <dgm:presLayoutVars>
          <dgm:bulletEnabled val="1"/>
        </dgm:presLayoutVars>
      </dgm:prSet>
      <dgm:spPr/>
    </dgm:pt>
    <dgm:pt modelId="{CE99DD67-2143-4A1E-9B6E-35A83885B23B}" type="pres">
      <dgm:prSet presAssocID="{5F93CD77-FB3C-4BE8-B6EC-6C216A270EAA}" presName="FiveNodes_4_text" presStyleLbl="node1" presStyleIdx="4" presStyleCnt="5">
        <dgm:presLayoutVars>
          <dgm:bulletEnabled val="1"/>
        </dgm:presLayoutVars>
      </dgm:prSet>
      <dgm:spPr/>
    </dgm:pt>
    <dgm:pt modelId="{FD68869A-60F1-4783-ABDD-E149777FBEE4}" type="pres">
      <dgm:prSet presAssocID="{5F93CD77-FB3C-4BE8-B6EC-6C216A270EAA}" presName="FiveNodes_5_text" presStyleLbl="node1" presStyleIdx="4" presStyleCnt="5">
        <dgm:presLayoutVars>
          <dgm:bulletEnabled val="1"/>
        </dgm:presLayoutVars>
      </dgm:prSet>
      <dgm:spPr/>
    </dgm:pt>
  </dgm:ptLst>
  <dgm:cxnLst>
    <dgm:cxn modelId="{79602E13-2E51-4380-A3F3-D9EDE46F4FEF}" type="presOf" srcId="{D1068562-7708-4197-9302-3DCAA61C7FB6}" destId="{08FE48D6-AFA1-4DBE-891A-59F1953B6B9E}" srcOrd="0" destOrd="0" presId="urn:microsoft.com/office/officeart/2005/8/layout/vProcess5"/>
    <dgm:cxn modelId="{A5FA1423-1B71-42C0-B4EC-F4B3D89853A9}" type="presOf" srcId="{A8EB54E6-9AFC-463A-9079-E60D32A05134}" destId="{DF5FB93C-4868-40E3-923C-CFF77AB72C97}" srcOrd="0" destOrd="0" presId="urn:microsoft.com/office/officeart/2005/8/layout/vProcess5"/>
    <dgm:cxn modelId="{3552E134-CC7F-40E6-BF65-C2DE64A8CCA0}" type="presOf" srcId="{2255F639-7C85-4E1C-A892-A0F2A13C610C}" destId="{6BBFC57E-91BF-4305-8970-382E653DA159}" srcOrd="0" destOrd="0" presId="urn:microsoft.com/office/officeart/2005/8/layout/vProcess5"/>
    <dgm:cxn modelId="{066F7D3A-C995-430C-B87E-D5F1876ED11C}" type="presOf" srcId="{1D8E6A69-50AB-4772-936F-75324AC5FDB2}" destId="{B1C44487-D7B1-49D7-B2CE-06DF3B98FEB8}" srcOrd="0" destOrd="0" presId="urn:microsoft.com/office/officeart/2005/8/layout/vProcess5"/>
    <dgm:cxn modelId="{21CCE33A-3245-445F-BADF-A581DCADBE53}" type="presOf" srcId="{FE75795C-6BF2-48F0-BEFC-8EC9415E979A}" destId="{59FDF91A-19F1-4634-A79F-7CBDC5A412F5}" srcOrd="0" destOrd="0" presId="urn:microsoft.com/office/officeart/2005/8/layout/vProcess5"/>
    <dgm:cxn modelId="{99D1385B-CD2A-4998-BE02-56DC05AF9565}" type="presOf" srcId="{EA0368D1-6EAF-4EB6-8524-30CEBB101C8A}" destId="{D372A177-5E62-43F2-8827-6D120AC87572}" srcOrd="0" destOrd="0" presId="urn:microsoft.com/office/officeart/2005/8/layout/vProcess5"/>
    <dgm:cxn modelId="{230CF95F-2327-40B4-BEE6-9E4C97062D5A}" srcId="{5F93CD77-FB3C-4BE8-B6EC-6C216A270EAA}" destId="{D1068562-7708-4197-9302-3DCAA61C7FB6}" srcOrd="3" destOrd="0" parTransId="{EC23FAFD-EB67-4B7D-BACC-86E000464EC9}" sibTransId="{FE75795C-6BF2-48F0-BEFC-8EC9415E979A}"/>
    <dgm:cxn modelId="{43289C64-3DCB-4DED-9E99-56629E0CF507}" srcId="{5F93CD77-FB3C-4BE8-B6EC-6C216A270EAA}" destId="{2255F639-7C85-4E1C-A892-A0F2A13C610C}" srcOrd="2" destOrd="0" parTransId="{0DB49761-4E6A-4F40-8EB4-8B08E6F75F5A}" sibTransId="{1D8E6A69-50AB-4772-936F-75324AC5FDB2}"/>
    <dgm:cxn modelId="{44A61352-42C2-4F61-BE1F-95ACA320DEB5}" type="presOf" srcId="{D1068562-7708-4197-9302-3DCAA61C7FB6}" destId="{CE99DD67-2143-4A1E-9B6E-35A83885B23B}" srcOrd="1" destOrd="0" presId="urn:microsoft.com/office/officeart/2005/8/layout/vProcess5"/>
    <dgm:cxn modelId="{9ED4D975-B6A0-4C78-AC8A-A7B6F824B092}" type="presOf" srcId="{1CF565A2-3902-4B4F-863C-A694FF61A70A}" destId="{FD68869A-60F1-4783-ABDD-E149777FBEE4}" srcOrd="1" destOrd="0" presId="urn:microsoft.com/office/officeart/2005/8/layout/vProcess5"/>
    <dgm:cxn modelId="{91FD6C78-6A00-47F4-A629-F6819688A6A7}" type="presOf" srcId="{864BC09A-38D6-4E4E-801C-4561DD02D4D1}" destId="{10E4A409-A89D-424C-8D50-BE30A2591376}" srcOrd="0" destOrd="0" presId="urn:microsoft.com/office/officeart/2005/8/layout/vProcess5"/>
    <dgm:cxn modelId="{D240EC7A-09D0-4815-AFF7-E92808949B18}" type="presOf" srcId="{1CF565A2-3902-4B4F-863C-A694FF61A70A}" destId="{FF426986-E518-4EE6-8306-06361BCD7300}" srcOrd="0" destOrd="0" presId="urn:microsoft.com/office/officeart/2005/8/layout/vProcess5"/>
    <dgm:cxn modelId="{8A8CE18D-03C8-437A-84A1-A9C8A5ABDB8E}" type="presOf" srcId="{44D6F27E-2BB5-4408-801F-7857D291670A}" destId="{E0ABE133-5D21-422B-A618-944C73B0B884}" srcOrd="0" destOrd="0" presId="urn:microsoft.com/office/officeart/2005/8/layout/vProcess5"/>
    <dgm:cxn modelId="{60AB9D9C-A98C-4AF2-9786-F92B0A7C9ABE}" srcId="{5F93CD77-FB3C-4BE8-B6EC-6C216A270EAA}" destId="{44D6F27E-2BB5-4408-801F-7857D291670A}" srcOrd="1" destOrd="0" parTransId="{F5FC1655-619F-41DE-9D84-F6C15A30FA45}" sibTransId="{864BC09A-38D6-4E4E-801C-4561DD02D4D1}"/>
    <dgm:cxn modelId="{181EC59F-71DA-4B8D-9A4B-4C23DBD7F5D4}" type="presOf" srcId="{2255F639-7C85-4E1C-A892-A0F2A13C610C}" destId="{4D8D1FF3-05D8-4B68-B6A4-44700754D416}" srcOrd="1" destOrd="0" presId="urn:microsoft.com/office/officeart/2005/8/layout/vProcess5"/>
    <dgm:cxn modelId="{87628EB5-4DA8-49F5-A9B4-E954CA0FE689}" srcId="{5F93CD77-FB3C-4BE8-B6EC-6C216A270EAA}" destId="{EA0368D1-6EAF-4EB6-8524-30CEBB101C8A}" srcOrd="0" destOrd="0" parTransId="{F1FA39A6-5CCE-4A2B-A50C-745DC3085858}" sibTransId="{A8EB54E6-9AFC-463A-9079-E60D32A05134}"/>
    <dgm:cxn modelId="{368044B8-6B99-4B98-9D44-C28DC5F04B71}" type="presOf" srcId="{5F93CD77-FB3C-4BE8-B6EC-6C216A270EAA}" destId="{7E64E1A5-33E5-42E3-9C57-CB3C6BC8F364}" srcOrd="0" destOrd="0" presId="urn:microsoft.com/office/officeart/2005/8/layout/vProcess5"/>
    <dgm:cxn modelId="{D3FF24C6-F02E-49CA-8466-812CDD748CF4}" type="presOf" srcId="{EA0368D1-6EAF-4EB6-8524-30CEBB101C8A}" destId="{F7E0826C-C33A-41EC-A323-E96302CB3F5C}" srcOrd="1" destOrd="0" presId="urn:microsoft.com/office/officeart/2005/8/layout/vProcess5"/>
    <dgm:cxn modelId="{D7784CD4-0643-4E1C-9CD2-5E9B9D78301F}" srcId="{5F93CD77-FB3C-4BE8-B6EC-6C216A270EAA}" destId="{1CF565A2-3902-4B4F-863C-A694FF61A70A}" srcOrd="4" destOrd="0" parTransId="{7BF2738E-4950-4169-BB52-180C0B10C95E}" sibTransId="{00B2ACB6-8C91-49D8-A9D8-382312D6E1CE}"/>
    <dgm:cxn modelId="{E96F42EA-E89E-4C16-95C5-03855CC34427}" type="presOf" srcId="{44D6F27E-2BB5-4408-801F-7857D291670A}" destId="{22B39D01-FF77-4AB3-8678-86B7F4493824}" srcOrd="1" destOrd="0" presId="urn:microsoft.com/office/officeart/2005/8/layout/vProcess5"/>
    <dgm:cxn modelId="{F1C62F9A-5FF2-4124-991D-1977E9C8A1E5}" type="presParOf" srcId="{7E64E1A5-33E5-42E3-9C57-CB3C6BC8F364}" destId="{49B5B9AE-38F2-45EA-B7EC-4D5C44FEC664}" srcOrd="0" destOrd="0" presId="urn:microsoft.com/office/officeart/2005/8/layout/vProcess5"/>
    <dgm:cxn modelId="{00CF059D-B748-4119-96DD-1FCBE41BD79E}" type="presParOf" srcId="{7E64E1A5-33E5-42E3-9C57-CB3C6BC8F364}" destId="{D372A177-5E62-43F2-8827-6D120AC87572}" srcOrd="1" destOrd="0" presId="urn:microsoft.com/office/officeart/2005/8/layout/vProcess5"/>
    <dgm:cxn modelId="{A520399C-8FCF-45D5-8A4E-C6C0C468C81B}" type="presParOf" srcId="{7E64E1A5-33E5-42E3-9C57-CB3C6BC8F364}" destId="{E0ABE133-5D21-422B-A618-944C73B0B884}" srcOrd="2" destOrd="0" presId="urn:microsoft.com/office/officeart/2005/8/layout/vProcess5"/>
    <dgm:cxn modelId="{05301BCC-A4EC-4543-8B08-A0A064E624E3}" type="presParOf" srcId="{7E64E1A5-33E5-42E3-9C57-CB3C6BC8F364}" destId="{6BBFC57E-91BF-4305-8970-382E653DA159}" srcOrd="3" destOrd="0" presId="urn:microsoft.com/office/officeart/2005/8/layout/vProcess5"/>
    <dgm:cxn modelId="{F222D4D7-0296-4C07-9886-0A096670B4A8}" type="presParOf" srcId="{7E64E1A5-33E5-42E3-9C57-CB3C6BC8F364}" destId="{08FE48D6-AFA1-4DBE-891A-59F1953B6B9E}" srcOrd="4" destOrd="0" presId="urn:microsoft.com/office/officeart/2005/8/layout/vProcess5"/>
    <dgm:cxn modelId="{2CE9630D-02AF-4EE3-A1F2-0F540A741D70}" type="presParOf" srcId="{7E64E1A5-33E5-42E3-9C57-CB3C6BC8F364}" destId="{FF426986-E518-4EE6-8306-06361BCD7300}" srcOrd="5" destOrd="0" presId="urn:microsoft.com/office/officeart/2005/8/layout/vProcess5"/>
    <dgm:cxn modelId="{6B5274F3-A166-4EE0-AC67-2C8C153BABCD}" type="presParOf" srcId="{7E64E1A5-33E5-42E3-9C57-CB3C6BC8F364}" destId="{DF5FB93C-4868-40E3-923C-CFF77AB72C97}" srcOrd="6" destOrd="0" presId="urn:microsoft.com/office/officeart/2005/8/layout/vProcess5"/>
    <dgm:cxn modelId="{CF4B5A61-6914-4336-AB73-CC6B6D4D6C88}" type="presParOf" srcId="{7E64E1A5-33E5-42E3-9C57-CB3C6BC8F364}" destId="{10E4A409-A89D-424C-8D50-BE30A2591376}" srcOrd="7" destOrd="0" presId="urn:microsoft.com/office/officeart/2005/8/layout/vProcess5"/>
    <dgm:cxn modelId="{B75A31DB-7E66-415C-BD51-9C08F1295207}" type="presParOf" srcId="{7E64E1A5-33E5-42E3-9C57-CB3C6BC8F364}" destId="{B1C44487-D7B1-49D7-B2CE-06DF3B98FEB8}" srcOrd="8" destOrd="0" presId="urn:microsoft.com/office/officeart/2005/8/layout/vProcess5"/>
    <dgm:cxn modelId="{8B6E4203-98D2-4D96-AFBC-D9FBB69FEA1C}" type="presParOf" srcId="{7E64E1A5-33E5-42E3-9C57-CB3C6BC8F364}" destId="{59FDF91A-19F1-4634-A79F-7CBDC5A412F5}" srcOrd="9" destOrd="0" presId="urn:microsoft.com/office/officeart/2005/8/layout/vProcess5"/>
    <dgm:cxn modelId="{733A035E-E878-4A07-862D-C90BBED49494}" type="presParOf" srcId="{7E64E1A5-33E5-42E3-9C57-CB3C6BC8F364}" destId="{F7E0826C-C33A-41EC-A323-E96302CB3F5C}" srcOrd="10" destOrd="0" presId="urn:microsoft.com/office/officeart/2005/8/layout/vProcess5"/>
    <dgm:cxn modelId="{B54A6B9C-A8E0-4540-9DDD-2CF336F486B5}" type="presParOf" srcId="{7E64E1A5-33E5-42E3-9C57-CB3C6BC8F364}" destId="{22B39D01-FF77-4AB3-8678-86B7F4493824}" srcOrd="11" destOrd="0" presId="urn:microsoft.com/office/officeart/2005/8/layout/vProcess5"/>
    <dgm:cxn modelId="{F7D455D9-50ED-4637-B3C0-7EFFFE44C746}" type="presParOf" srcId="{7E64E1A5-33E5-42E3-9C57-CB3C6BC8F364}" destId="{4D8D1FF3-05D8-4B68-B6A4-44700754D416}" srcOrd="12" destOrd="0" presId="urn:microsoft.com/office/officeart/2005/8/layout/vProcess5"/>
    <dgm:cxn modelId="{02DE2DEB-1D02-4E6A-8CDE-E5D128F76987}" type="presParOf" srcId="{7E64E1A5-33E5-42E3-9C57-CB3C6BC8F364}" destId="{CE99DD67-2143-4A1E-9B6E-35A83885B23B}" srcOrd="13" destOrd="0" presId="urn:microsoft.com/office/officeart/2005/8/layout/vProcess5"/>
    <dgm:cxn modelId="{86AA5623-C32F-4728-AF4E-7637DF9FFD2E}" type="presParOf" srcId="{7E64E1A5-33E5-42E3-9C57-CB3C6BC8F364}" destId="{FD68869A-60F1-4783-ABDD-E149777FBEE4}"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72A177-5E62-43F2-8827-6D120AC87572}">
      <dsp:nvSpPr>
        <dsp:cNvPr id="0" name=""/>
        <dsp:cNvSpPr/>
      </dsp:nvSpPr>
      <dsp:spPr>
        <a:xfrm>
          <a:off x="0" y="0"/>
          <a:ext cx="5554471" cy="552619"/>
        </a:xfrm>
        <a:prstGeom prst="roundRect">
          <a:avLst>
            <a:gd name="adj" fmla="val 10000"/>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kern="1200"/>
            <a:t>The Sleep Health and Lifestyle Dataset comprises close to 400 rows and 13 columns, covering a wide range of variables related to sleep and daily habits — including gender, age, occupation, sleep duration, quality of sleep, physical activity level, stress levels, BMI category, blood pressure, heart rate, daily steps, and the presence or absence of sleep disorders.</a:t>
          </a:r>
        </a:p>
      </dsp:txBody>
      <dsp:txXfrm>
        <a:off x="16186" y="16186"/>
        <a:ext cx="4893494" cy="520247"/>
      </dsp:txXfrm>
    </dsp:sp>
    <dsp:sp modelId="{E0ABE133-5D21-422B-A618-944C73B0B884}">
      <dsp:nvSpPr>
        <dsp:cNvPr id="0" name=""/>
        <dsp:cNvSpPr/>
      </dsp:nvSpPr>
      <dsp:spPr>
        <a:xfrm>
          <a:off x="414782" y="629372"/>
          <a:ext cx="5554471" cy="552619"/>
        </a:xfrm>
        <a:prstGeom prst="roundRect">
          <a:avLst>
            <a:gd name="adj" fmla="val 10000"/>
          </a:avLst>
        </a:prstGeom>
        <a:solidFill>
          <a:schemeClr val="accent2">
            <a:hueOff val="-678113"/>
            <a:satOff val="-414"/>
            <a:lumOff val="1618"/>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b="1" kern="1200"/>
            <a:t>Comprehensive Sleep Metrics:</a:t>
          </a:r>
          <a:r>
            <a:rPr lang="en-US" sz="800" kern="1200"/>
            <a:t> Sleep duration, quality, and the factors influencing sleep patterns </a:t>
          </a:r>
        </a:p>
      </dsp:txBody>
      <dsp:txXfrm>
        <a:off x="430968" y="645558"/>
        <a:ext cx="4748115" cy="520247"/>
      </dsp:txXfrm>
    </dsp:sp>
    <dsp:sp modelId="{6BBFC57E-91BF-4305-8970-382E653DA159}">
      <dsp:nvSpPr>
        <dsp:cNvPr id="0" name=""/>
        <dsp:cNvSpPr/>
      </dsp:nvSpPr>
      <dsp:spPr>
        <a:xfrm>
          <a:off x="829564" y="1258745"/>
          <a:ext cx="5554471" cy="552619"/>
        </a:xfrm>
        <a:prstGeom prst="roundRect">
          <a:avLst>
            <a:gd name="adj" fmla="val 10000"/>
          </a:avLst>
        </a:prstGeom>
        <a:solidFill>
          <a:schemeClr val="accent2">
            <a:hueOff val="-1356225"/>
            <a:satOff val="-828"/>
            <a:lumOff val="323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b="1" kern="1200"/>
            <a:t>Lifestyle Factors:</a:t>
          </a:r>
          <a:r>
            <a:rPr lang="en-US" sz="800" kern="1200"/>
            <a:t> Physical activity levels, stress levels, and BMI categories</a:t>
          </a:r>
        </a:p>
      </dsp:txBody>
      <dsp:txXfrm>
        <a:off x="845750" y="1274931"/>
        <a:ext cx="4748115" cy="520247"/>
      </dsp:txXfrm>
    </dsp:sp>
    <dsp:sp modelId="{08FE48D6-AFA1-4DBE-891A-59F1953B6B9E}">
      <dsp:nvSpPr>
        <dsp:cNvPr id="0" name=""/>
        <dsp:cNvSpPr/>
      </dsp:nvSpPr>
      <dsp:spPr>
        <a:xfrm>
          <a:off x="1244346" y="1888118"/>
          <a:ext cx="5554471" cy="552619"/>
        </a:xfrm>
        <a:prstGeom prst="roundRect">
          <a:avLst>
            <a:gd name="adj" fmla="val 10000"/>
          </a:avLst>
        </a:prstGeom>
        <a:solidFill>
          <a:schemeClr val="accent2">
            <a:hueOff val="-2034338"/>
            <a:satOff val="-1242"/>
            <a:lumOff val="4853"/>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b="1" kern="1200"/>
            <a:t>Cardiovascular Health:</a:t>
          </a:r>
          <a:r>
            <a:rPr lang="en-US" sz="800" kern="1200"/>
            <a:t> Blood pressure and heart rate measurements </a:t>
          </a:r>
        </a:p>
      </dsp:txBody>
      <dsp:txXfrm>
        <a:off x="1260532" y="1904304"/>
        <a:ext cx="4748115" cy="520247"/>
      </dsp:txXfrm>
    </dsp:sp>
    <dsp:sp modelId="{FF426986-E518-4EE6-8306-06361BCD7300}">
      <dsp:nvSpPr>
        <dsp:cNvPr id="0" name=""/>
        <dsp:cNvSpPr/>
      </dsp:nvSpPr>
      <dsp:spPr>
        <a:xfrm>
          <a:off x="1659128" y="2517491"/>
          <a:ext cx="5554471" cy="552619"/>
        </a:xfrm>
        <a:prstGeom prst="roundRect">
          <a:avLst>
            <a:gd name="adj" fmla="val 10000"/>
          </a:avLst>
        </a:prstGeom>
        <a:solidFill>
          <a:schemeClr val="accent2">
            <a:hueOff val="-2712450"/>
            <a:satOff val="-1656"/>
            <a:lumOff val="6471"/>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b="1" kern="1200"/>
            <a:t>Sleep Disorder Analysis:</a:t>
          </a:r>
          <a:r>
            <a:rPr lang="en-US" sz="800" kern="1200"/>
            <a:t> Occurrence of disorders such as Insomnia and Sleep Apnea </a:t>
          </a:r>
        </a:p>
      </dsp:txBody>
      <dsp:txXfrm>
        <a:off x="1675314" y="2533677"/>
        <a:ext cx="4748115" cy="520247"/>
      </dsp:txXfrm>
    </dsp:sp>
    <dsp:sp modelId="{DF5FB93C-4868-40E3-923C-CFF77AB72C97}">
      <dsp:nvSpPr>
        <dsp:cNvPr id="0" name=""/>
        <dsp:cNvSpPr/>
      </dsp:nvSpPr>
      <dsp:spPr>
        <a:xfrm>
          <a:off x="5195269" y="403719"/>
          <a:ext cx="359202" cy="359202"/>
        </a:xfrm>
        <a:prstGeom prst="downArrow">
          <a:avLst>
            <a:gd name="adj1" fmla="val 55000"/>
            <a:gd name="adj2" fmla="val 45000"/>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5276089" y="403719"/>
        <a:ext cx="197562" cy="270300"/>
      </dsp:txXfrm>
    </dsp:sp>
    <dsp:sp modelId="{10E4A409-A89D-424C-8D50-BE30A2591376}">
      <dsp:nvSpPr>
        <dsp:cNvPr id="0" name=""/>
        <dsp:cNvSpPr/>
      </dsp:nvSpPr>
      <dsp:spPr>
        <a:xfrm>
          <a:off x="5610051" y="1033092"/>
          <a:ext cx="359202" cy="359202"/>
        </a:xfrm>
        <a:prstGeom prst="downArrow">
          <a:avLst>
            <a:gd name="adj1" fmla="val 55000"/>
            <a:gd name="adj2" fmla="val 45000"/>
          </a:avLst>
        </a:prstGeom>
        <a:solidFill>
          <a:schemeClr val="accent2">
            <a:tint val="40000"/>
            <a:alpha val="90000"/>
            <a:hueOff val="-1247123"/>
            <a:satOff val="2509"/>
            <a:lumOff val="382"/>
            <a:alphaOff val="0"/>
          </a:schemeClr>
        </a:solidFill>
        <a:ln w="19050" cap="rnd" cmpd="sng" algn="ctr">
          <a:solidFill>
            <a:schemeClr val="accent2">
              <a:tint val="40000"/>
              <a:alpha val="90000"/>
              <a:hueOff val="-1247123"/>
              <a:satOff val="2509"/>
              <a:lumOff val="38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5690871" y="1033092"/>
        <a:ext cx="197562" cy="270300"/>
      </dsp:txXfrm>
    </dsp:sp>
    <dsp:sp modelId="{B1C44487-D7B1-49D7-B2CE-06DF3B98FEB8}">
      <dsp:nvSpPr>
        <dsp:cNvPr id="0" name=""/>
        <dsp:cNvSpPr/>
      </dsp:nvSpPr>
      <dsp:spPr>
        <a:xfrm>
          <a:off x="6024833" y="1653254"/>
          <a:ext cx="359202" cy="359202"/>
        </a:xfrm>
        <a:prstGeom prst="downArrow">
          <a:avLst>
            <a:gd name="adj1" fmla="val 55000"/>
            <a:gd name="adj2" fmla="val 45000"/>
          </a:avLst>
        </a:prstGeom>
        <a:solidFill>
          <a:schemeClr val="accent2">
            <a:tint val="40000"/>
            <a:alpha val="90000"/>
            <a:hueOff val="-2494246"/>
            <a:satOff val="5017"/>
            <a:lumOff val="765"/>
            <a:alphaOff val="0"/>
          </a:schemeClr>
        </a:solidFill>
        <a:ln w="19050" cap="rnd" cmpd="sng" algn="ctr">
          <a:solidFill>
            <a:schemeClr val="accent2">
              <a:tint val="40000"/>
              <a:alpha val="90000"/>
              <a:hueOff val="-2494246"/>
              <a:satOff val="5017"/>
              <a:lumOff val="76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6105653" y="1653254"/>
        <a:ext cx="197562" cy="270300"/>
      </dsp:txXfrm>
    </dsp:sp>
    <dsp:sp modelId="{59FDF91A-19F1-4634-A79F-7CBDC5A412F5}">
      <dsp:nvSpPr>
        <dsp:cNvPr id="0" name=""/>
        <dsp:cNvSpPr/>
      </dsp:nvSpPr>
      <dsp:spPr>
        <a:xfrm>
          <a:off x="6439615" y="2288767"/>
          <a:ext cx="359202" cy="359202"/>
        </a:xfrm>
        <a:prstGeom prst="downArrow">
          <a:avLst>
            <a:gd name="adj1" fmla="val 55000"/>
            <a:gd name="adj2" fmla="val 45000"/>
          </a:avLst>
        </a:prstGeom>
        <a:solidFill>
          <a:schemeClr val="accent2">
            <a:tint val="40000"/>
            <a:alpha val="90000"/>
            <a:hueOff val="-3741368"/>
            <a:satOff val="7526"/>
            <a:lumOff val="1147"/>
            <a:alphaOff val="0"/>
          </a:schemeClr>
        </a:solidFill>
        <a:ln w="19050" cap="rnd" cmpd="sng" algn="ctr">
          <a:solidFill>
            <a:schemeClr val="accent2">
              <a:tint val="40000"/>
              <a:alpha val="90000"/>
              <a:hueOff val="-3741368"/>
              <a:satOff val="7526"/>
              <a:lumOff val="114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6520435" y="2288767"/>
        <a:ext cx="197562" cy="270300"/>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 name="Google Shape;5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dff8c1a44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dff8c1a44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706815789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706815789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dirty="0"/>
              <a:t>Sleep is the important factor of our life if we don't get enough sleep it affect our physical and mental </a:t>
            </a:r>
            <a:r>
              <a:rPr lang="en-US" dirty="0" err="1"/>
              <a:t>health,To</a:t>
            </a:r>
            <a:r>
              <a:rPr lang="en-US" dirty="0"/>
              <a:t> </a:t>
            </a:r>
            <a:r>
              <a:rPr lang="en-US" dirty="0" err="1"/>
              <a:t>analyse</a:t>
            </a:r>
            <a:r>
              <a:rPr lang="en-US" dirty="0"/>
              <a:t> this dataset I understand that </a:t>
            </a:r>
            <a:r>
              <a:rPr lang="en-US" dirty="0" err="1"/>
              <a:t>outoff</a:t>
            </a:r>
            <a:r>
              <a:rPr lang="en-US" dirty="0"/>
              <a:t> 374 people many of them have sleeping disorder because of their duration of sleep</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6dff8c1a44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6dff8c1a44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dirty="0"/>
              <a:t>The primary goal of this project is to analyze how physical activity, occupational stress, and daily habits impact sleep outcomes. Additionally, we built an interactive Power BI dashboard to deliver actionable visual insights into sleep quality, disorders, and overall cardiovascular health.</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Our dataset structure begins with the core Sleep Performance Metrics table. This view tracks individual participant IDs alongside demographic attributes like gender, age, and occupation. Crucially, it records both quantitative measurements—such as daily sleep duration in hours—and qualitative metrics, including subjective sleep quality ratings and clinical diagnoses for disorders like Insomnia and Sleep Apnea. </a:t>
            </a:r>
          </a:p>
        </p:txBody>
      </p:sp>
    </p:spTree>
    <p:extLst>
      <p:ext uri="{BB962C8B-B14F-4D97-AF65-F5344CB8AC3E}">
        <p14:creationId xmlns:p14="http://schemas.microsoft.com/office/powerpoint/2010/main" val="17714513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6e05ddd009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6e05ddd009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F90851D3-5E8B-66DD-3D00-C71CB6C1AE12}"/>
            </a:ext>
          </a:extLst>
        </p:cNvPr>
        <p:cNvGrpSpPr/>
        <p:nvPr/>
      </p:nvGrpSpPr>
      <p:grpSpPr>
        <a:xfrm>
          <a:off x="0" y="0"/>
          <a:ext cx="0" cy="0"/>
          <a:chOff x="0" y="0"/>
          <a:chExt cx="0" cy="0"/>
        </a:xfrm>
      </p:grpSpPr>
      <p:sp>
        <p:nvSpPr>
          <p:cNvPr id="132" name="Google Shape;132;g36e05ddd009_0_12:notes">
            <a:extLst>
              <a:ext uri="{FF2B5EF4-FFF2-40B4-BE49-F238E27FC236}">
                <a16:creationId xmlns:a16="http://schemas.microsoft.com/office/drawing/2014/main" id="{E3FA5DF8-40F2-F1CD-0584-08908BF231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6e05ddd009_0_12:notes">
            <a:extLst>
              <a:ext uri="{FF2B5EF4-FFF2-40B4-BE49-F238E27FC236}">
                <a16:creationId xmlns:a16="http://schemas.microsoft.com/office/drawing/2014/main" id="{F932060C-044E-A468-07D1-83DABBE2B8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endParaRPr lang="en-US" dirty="0"/>
          </a:p>
        </p:txBody>
      </p:sp>
    </p:spTree>
    <p:extLst>
      <p:ext uri="{BB962C8B-B14F-4D97-AF65-F5344CB8AC3E}">
        <p14:creationId xmlns:p14="http://schemas.microsoft.com/office/powerpoint/2010/main" val="19164345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F90851D3-5E8B-66DD-3D00-C71CB6C1AE12}"/>
            </a:ext>
          </a:extLst>
        </p:cNvPr>
        <p:cNvGrpSpPr/>
        <p:nvPr/>
      </p:nvGrpSpPr>
      <p:grpSpPr>
        <a:xfrm>
          <a:off x="0" y="0"/>
          <a:ext cx="0" cy="0"/>
          <a:chOff x="0" y="0"/>
          <a:chExt cx="0" cy="0"/>
        </a:xfrm>
      </p:grpSpPr>
      <p:sp>
        <p:nvSpPr>
          <p:cNvPr id="132" name="Google Shape;132;g36e05ddd009_0_12:notes">
            <a:extLst>
              <a:ext uri="{FF2B5EF4-FFF2-40B4-BE49-F238E27FC236}">
                <a16:creationId xmlns:a16="http://schemas.microsoft.com/office/drawing/2014/main" id="{E3FA5DF8-40F2-F1CD-0584-08908BF231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6e05ddd009_0_12:notes">
            <a:extLst>
              <a:ext uri="{FF2B5EF4-FFF2-40B4-BE49-F238E27FC236}">
                <a16:creationId xmlns:a16="http://schemas.microsoft.com/office/drawing/2014/main" id="{F932060C-044E-A468-07D1-83DABBE2B8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endParaRPr lang="en-US" dirty="0"/>
          </a:p>
        </p:txBody>
      </p:sp>
    </p:spTree>
    <p:extLst>
      <p:ext uri="{BB962C8B-B14F-4D97-AF65-F5344CB8AC3E}">
        <p14:creationId xmlns:p14="http://schemas.microsoft.com/office/powerpoint/2010/main" val="19164345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endParaRPr lang="en-US" dirty="0"/>
          </a:p>
        </p:txBody>
      </p:sp>
    </p:spTree>
    <p:extLst>
      <p:ext uri="{BB962C8B-B14F-4D97-AF65-F5344CB8AC3E}">
        <p14:creationId xmlns:p14="http://schemas.microsoft.com/office/powerpoint/2010/main" val="301560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endParaRPr lang="en-US" dirty="0"/>
          </a:p>
        </p:txBody>
      </p:sp>
    </p:spTree>
    <p:extLst>
      <p:ext uri="{BB962C8B-B14F-4D97-AF65-F5344CB8AC3E}">
        <p14:creationId xmlns:p14="http://schemas.microsoft.com/office/powerpoint/2010/main" val="301560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endParaRPr lang="en-US" dirty="0"/>
          </a:p>
        </p:txBody>
      </p:sp>
    </p:spTree>
    <p:extLst>
      <p:ext uri="{BB962C8B-B14F-4D97-AF65-F5344CB8AC3E}">
        <p14:creationId xmlns:p14="http://schemas.microsoft.com/office/powerpoint/2010/main" val="301560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r>
              <a:rPr lang="en-US" dirty="0"/>
              <a:t>Behind the visuals, dynamic Power BI DAX measures drive the analytics. We constructed distinct aggregation measures using DISTINCTCOUNT and AVERAGE to calculate sample size, mean sleep duration, quality, and stress levels. Additionally, conditional DAX calculations using DIVIDE and CALCULATE dynamically compute key percentages, such as the proportion of participants with sleep disorders and those falling into hypertensive blood pressure categories.</a:t>
            </a:r>
          </a:p>
        </p:txBody>
      </p:sp>
    </p:spTree>
    <p:extLst>
      <p:ext uri="{BB962C8B-B14F-4D97-AF65-F5344CB8AC3E}">
        <p14:creationId xmlns:p14="http://schemas.microsoft.com/office/powerpoint/2010/main" val="301560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6e05ddd009_1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36e05ddd009_1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dirty="0"/>
              <a:t>In conclusion, four key findings define this project. First, sleep disorders are widespread, affecting 41.4% of the surveyed population. Second, stress is the single strongest negative driver of sleep quality, exhibiting a -0.90 correlation. Third, an occupation sleep gap of 2.1 hours exists between high- and low-sleeping professions. Finally, elevated BMI directly increases cardiovascular risk, reaching a 100% hypertension rate among overweight and obese participants. </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7068157897_1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37068157897_1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7068157897_2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37068157897_2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6350"/>
            <a:ext cx="9144000" cy="5149850"/>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300" y="1803400"/>
            <a:ext cx="5825202" cy="1234727"/>
          </a:xfrm>
        </p:spPr>
        <p:txBody>
          <a:bodyPr anchor="b">
            <a:noAutofit/>
          </a:bodyPr>
          <a:lstStyle>
            <a:lvl1pPr algn="r">
              <a:defRPr sz="9600">
                <a:solidFill>
                  <a:schemeClr val="accent1"/>
                </a:solidFill>
              </a:defRPr>
            </a:lvl1pPr>
          </a:lstStyle>
          <a:p>
            <a:r>
              <a:rPr lang="en-US" dirty="0"/>
              <a:t>Click to edit Master title style</a:t>
            </a:r>
          </a:p>
        </p:txBody>
      </p:sp>
      <p:sp>
        <p:nvSpPr>
          <p:cNvPr id="3" name="Subtitle 2"/>
          <p:cNvSpPr>
            <a:spLocks noGrp="1"/>
          </p:cNvSpPr>
          <p:nvPr>
            <p:ph type="subTitle" idx="1"/>
          </p:nvPr>
        </p:nvSpPr>
        <p:spPr>
          <a:xfrm>
            <a:off x="1130300" y="3038125"/>
            <a:ext cx="5825202" cy="822674"/>
          </a:xfrm>
        </p:spPr>
        <p:txBody>
          <a:bodyPr anchor="t"/>
          <a:lstStyle>
            <a:lvl1pPr marL="0" indent="0" algn="r">
              <a:buNone/>
              <a:defRPr>
                <a:solidFill>
                  <a:schemeClr val="tx1">
                    <a:lumMod val="50000"/>
                    <a:lumOff val="50000"/>
                  </a:schemeClr>
                </a:solidFill>
              </a:defRPr>
            </a:lvl1pPr>
            <a:lvl2pPr marL="812810" indent="0" algn="ctr">
              <a:buNone/>
              <a:defRPr>
                <a:solidFill>
                  <a:schemeClr val="tx1">
                    <a:tint val="75000"/>
                  </a:schemeClr>
                </a:solidFill>
              </a:defRPr>
            </a:lvl2pPr>
            <a:lvl3pPr marL="1625620" indent="0" algn="ctr">
              <a:buNone/>
              <a:defRPr>
                <a:solidFill>
                  <a:schemeClr val="tx1">
                    <a:tint val="75000"/>
                  </a:schemeClr>
                </a:solidFill>
              </a:defRPr>
            </a:lvl3pPr>
            <a:lvl4pPr marL="2438430" indent="0" algn="ctr">
              <a:buNone/>
              <a:defRPr>
                <a:solidFill>
                  <a:schemeClr val="tx1">
                    <a:tint val="75000"/>
                  </a:schemeClr>
                </a:solidFill>
              </a:defRPr>
            </a:lvl4pPr>
            <a:lvl5pPr marL="3251241" indent="0" algn="ctr">
              <a:buNone/>
              <a:defRPr>
                <a:solidFill>
                  <a:schemeClr val="tx1">
                    <a:tint val="75000"/>
                  </a:schemeClr>
                </a:solidFill>
              </a:defRPr>
            </a:lvl5pPr>
            <a:lvl6pPr marL="4064051" indent="0" algn="ctr">
              <a:buNone/>
              <a:defRPr>
                <a:solidFill>
                  <a:schemeClr val="tx1">
                    <a:tint val="75000"/>
                  </a:schemeClr>
                </a:solidFill>
              </a:defRPr>
            </a:lvl6pPr>
            <a:lvl7pPr marL="4876861" indent="0" algn="ctr">
              <a:buNone/>
              <a:defRPr>
                <a:solidFill>
                  <a:schemeClr val="tx1">
                    <a:tint val="75000"/>
                  </a:schemeClr>
                </a:solidFill>
              </a:defRPr>
            </a:lvl7pPr>
            <a:lvl8pPr marL="5689671" indent="0" algn="ctr">
              <a:buNone/>
              <a:defRPr>
                <a:solidFill>
                  <a:schemeClr val="tx1">
                    <a:tint val="75000"/>
                  </a:schemeClr>
                </a:solidFill>
              </a:defRPr>
            </a:lvl8pPr>
            <a:lvl9pPr marL="6502481"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9/27/2026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9258489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2A54C80-263E-416B-A8E0-580EDEADCBDC}" type="datetimeFigureOut">
              <a:rPr lang="en-US" dirty="0"/>
              <a:t>9/27/2026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42605290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025651"/>
            <a:ext cx="6447501" cy="1369936"/>
          </a:xfrm>
        </p:spPr>
        <p:txBody>
          <a:bodyPr anchor="b"/>
          <a:lstStyle>
            <a:lvl1pPr algn="l">
              <a:defRPr sz="7111" b="0" cap="none"/>
            </a:lvl1pPr>
          </a:lstStyle>
          <a:p>
            <a:r>
              <a:rPr lang="en-US" dirty="0"/>
              <a:t>Click to edit Master title style</a:t>
            </a:r>
          </a:p>
        </p:txBody>
      </p:sp>
      <p:sp>
        <p:nvSpPr>
          <p:cNvPr id="3" name="Text Placeholder 2"/>
          <p:cNvSpPr>
            <a:spLocks noGrp="1"/>
          </p:cNvSpPr>
          <p:nvPr>
            <p:ph type="body" idx="1"/>
          </p:nvPr>
        </p:nvSpPr>
        <p:spPr>
          <a:xfrm>
            <a:off x="508001" y="3395586"/>
            <a:ext cx="6447501" cy="645300"/>
          </a:xfrm>
        </p:spPr>
        <p:txBody>
          <a:bodyPr anchor="t"/>
          <a:lstStyle>
            <a:lvl1pPr marL="0" indent="0" algn="l">
              <a:buNone/>
              <a:defRPr sz="3556">
                <a:solidFill>
                  <a:schemeClr val="tx1">
                    <a:lumMod val="50000"/>
                    <a:lumOff val="50000"/>
                  </a:schemeClr>
                </a:solidFill>
              </a:defRPr>
            </a:lvl1pPr>
            <a:lvl2pPr marL="812810" indent="0">
              <a:buNone/>
              <a:defRPr sz="3200">
                <a:solidFill>
                  <a:schemeClr val="tx1">
                    <a:tint val="75000"/>
                  </a:schemeClr>
                </a:solidFill>
              </a:defRPr>
            </a:lvl2pPr>
            <a:lvl3pPr marL="1625620" indent="0">
              <a:buNone/>
              <a:defRPr sz="2844">
                <a:solidFill>
                  <a:schemeClr val="tx1">
                    <a:tint val="75000"/>
                  </a:schemeClr>
                </a:solidFill>
              </a:defRPr>
            </a:lvl3pPr>
            <a:lvl4pPr marL="2438430" indent="0">
              <a:buNone/>
              <a:defRPr sz="2489">
                <a:solidFill>
                  <a:schemeClr val="tx1">
                    <a:tint val="75000"/>
                  </a:schemeClr>
                </a:solidFill>
              </a:defRPr>
            </a:lvl4pPr>
            <a:lvl5pPr marL="3251241" indent="0">
              <a:buNone/>
              <a:defRPr sz="2489">
                <a:solidFill>
                  <a:schemeClr val="tx1">
                    <a:tint val="75000"/>
                  </a:schemeClr>
                </a:solidFill>
              </a:defRPr>
            </a:lvl5pPr>
            <a:lvl6pPr marL="4064051" indent="0">
              <a:buNone/>
              <a:defRPr sz="2489">
                <a:solidFill>
                  <a:schemeClr val="tx1">
                    <a:tint val="75000"/>
                  </a:schemeClr>
                </a:solidFill>
              </a:defRPr>
            </a:lvl6pPr>
            <a:lvl7pPr marL="4876861" indent="0">
              <a:buNone/>
              <a:defRPr sz="2489">
                <a:solidFill>
                  <a:schemeClr val="tx1">
                    <a:tint val="75000"/>
                  </a:schemeClr>
                </a:solidFill>
              </a:defRPr>
            </a:lvl7pPr>
            <a:lvl8pPr marL="5689671" indent="0">
              <a:buNone/>
              <a:defRPr sz="2489">
                <a:solidFill>
                  <a:schemeClr val="tx1">
                    <a:tint val="75000"/>
                  </a:schemeClr>
                </a:solidFill>
              </a:defRPr>
            </a:lvl8pPr>
            <a:lvl9pPr marL="6502481" indent="0">
              <a:buNone/>
              <a:defRPr sz="2489">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563679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508001" y="1620442"/>
            <a:ext cx="3138026" cy="291057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3817477" y="1620442"/>
            <a:ext cx="3138026" cy="29105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42A54C80-263E-416B-A8E0-580EDEADCBDC}" type="datetimeFigureOut">
              <a:rPr lang="en-US" dirty="0"/>
              <a:t>9/27/2026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3544644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506809" y="1620737"/>
            <a:ext cx="3139217" cy="432197"/>
          </a:xfrm>
        </p:spPr>
        <p:txBody>
          <a:bodyPr anchor="b">
            <a:noAutofit/>
          </a:bodyPr>
          <a:lstStyle>
            <a:lvl1pPr marL="0" indent="0">
              <a:buNone/>
              <a:defRPr sz="4267" b="0"/>
            </a:lvl1pPr>
            <a:lvl2pPr marL="812810" indent="0">
              <a:buNone/>
              <a:defRPr sz="3556" b="1"/>
            </a:lvl2pPr>
            <a:lvl3pPr marL="1625620" indent="0">
              <a:buNone/>
              <a:defRPr sz="3200" b="1"/>
            </a:lvl3pPr>
            <a:lvl4pPr marL="2438430" indent="0">
              <a:buNone/>
              <a:defRPr sz="2844" b="1"/>
            </a:lvl4pPr>
            <a:lvl5pPr marL="3251241" indent="0">
              <a:buNone/>
              <a:defRPr sz="2844" b="1"/>
            </a:lvl5pPr>
            <a:lvl6pPr marL="4064051" indent="0">
              <a:buNone/>
              <a:defRPr sz="2844" b="1"/>
            </a:lvl6pPr>
            <a:lvl7pPr marL="4876861" indent="0">
              <a:buNone/>
              <a:defRPr sz="2844" b="1"/>
            </a:lvl7pPr>
            <a:lvl8pPr marL="5689671" indent="0">
              <a:buNone/>
              <a:defRPr sz="2844" b="1"/>
            </a:lvl8pPr>
            <a:lvl9pPr marL="6502481" indent="0">
              <a:buNone/>
              <a:defRPr sz="2844" b="1"/>
            </a:lvl9pPr>
          </a:lstStyle>
          <a:p>
            <a:pPr lvl="0"/>
            <a:r>
              <a:rPr lang="en-US" dirty="0"/>
              <a:t>Click to edit Master text styles</a:t>
            </a:r>
          </a:p>
        </p:txBody>
      </p:sp>
      <p:sp>
        <p:nvSpPr>
          <p:cNvPr id="4" name="Content Placeholder 3"/>
          <p:cNvSpPr>
            <a:spLocks noGrp="1"/>
          </p:cNvSpPr>
          <p:nvPr>
            <p:ph sz="half" idx="2"/>
          </p:nvPr>
        </p:nvSpPr>
        <p:spPr>
          <a:xfrm>
            <a:off x="506809" y="2052934"/>
            <a:ext cx="3139217" cy="2478088"/>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3816287" y="1620737"/>
            <a:ext cx="3139214" cy="432197"/>
          </a:xfrm>
        </p:spPr>
        <p:txBody>
          <a:bodyPr anchor="b">
            <a:noAutofit/>
          </a:bodyPr>
          <a:lstStyle>
            <a:lvl1pPr marL="0" indent="0">
              <a:buNone/>
              <a:defRPr sz="4267" b="0"/>
            </a:lvl1pPr>
            <a:lvl2pPr marL="812810" indent="0">
              <a:buNone/>
              <a:defRPr sz="3556" b="1"/>
            </a:lvl2pPr>
            <a:lvl3pPr marL="1625620" indent="0">
              <a:buNone/>
              <a:defRPr sz="3200" b="1"/>
            </a:lvl3pPr>
            <a:lvl4pPr marL="2438430" indent="0">
              <a:buNone/>
              <a:defRPr sz="2844" b="1"/>
            </a:lvl4pPr>
            <a:lvl5pPr marL="3251241" indent="0">
              <a:buNone/>
              <a:defRPr sz="2844" b="1"/>
            </a:lvl5pPr>
            <a:lvl6pPr marL="4064051" indent="0">
              <a:buNone/>
              <a:defRPr sz="2844" b="1"/>
            </a:lvl6pPr>
            <a:lvl7pPr marL="4876861" indent="0">
              <a:buNone/>
              <a:defRPr sz="2844" b="1"/>
            </a:lvl7pPr>
            <a:lvl8pPr marL="5689671" indent="0">
              <a:buNone/>
              <a:defRPr sz="2844" b="1"/>
            </a:lvl8pPr>
            <a:lvl9pPr marL="6502481" indent="0">
              <a:buNone/>
              <a:defRPr sz="2844" b="1"/>
            </a:lvl9pPr>
          </a:lstStyle>
          <a:p>
            <a:pPr lvl="0"/>
            <a:r>
              <a:rPr lang="en-US" dirty="0"/>
              <a:t>Click to edit Master text styles</a:t>
            </a:r>
          </a:p>
        </p:txBody>
      </p:sp>
      <p:sp>
        <p:nvSpPr>
          <p:cNvPr id="6" name="Content Placeholder 5"/>
          <p:cNvSpPr>
            <a:spLocks noGrp="1"/>
          </p:cNvSpPr>
          <p:nvPr>
            <p:ph sz="quarter" idx="4"/>
          </p:nvPr>
        </p:nvSpPr>
        <p:spPr>
          <a:xfrm>
            <a:off x="3816288" y="2052934"/>
            <a:ext cx="3139213" cy="2478088"/>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9/27/2026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014071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990600"/>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9/27/2026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6295143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9/27/2026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47412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123953"/>
            <a:ext cx="2890896" cy="958850"/>
          </a:xfrm>
        </p:spPr>
        <p:txBody>
          <a:bodyPr anchor="b">
            <a:normAutofit/>
          </a:bodyPr>
          <a:lstStyle>
            <a:lvl1pPr>
              <a:defRPr sz="3556"/>
            </a:lvl1pPr>
          </a:lstStyle>
          <a:p>
            <a:r>
              <a:rPr lang="en-US" dirty="0"/>
              <a:t>Click to edit Master title style</a:t>
            </a:r>
          </a:p>
        </p:txBody>
      </p:sp>
      <p:sp>
        <p:nvSpPr>
          <p:cNvPr id="3" name="Content Placeholder 2"/>
          <p:cNvSpPr>
            <a:spLocks noGrp="1"/>
          </p:cNvSpPr>
          <p:nvPr>
            <p:ph idx="1"/>
          </p:nvPr>
        </p:nvSpPr>
        <p:spPr>
          <a:xfrm>
            <a:off x="3570346" y="386193"/>
            <a:ext cx="3385156" cy="4144828"/>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08001" y="2082802"/>
            <a:ext cx="2890896" cy="1938337"/>
          </a:xfrm>
        </p:spPr>
        <p:txBody>
          <a:bodyPr>
            <a:normAutofit/>
          </a:bodyPr>
          <a:lstStyle>
            <a:lvl1pPr marL="0" indent="0">
              <a:buNone/>
              <a:defRPr sz="2489"/>
            </a:lvl1pPr>
            <a:lvl2pPr marL="812567" indent="0">
              <a:buNone/>
              <a:defRPr sz="2489"/>
            </a:lvl2pPr>
            <a:lvl3pPr marL="1625133" indent="0">
              <a:buNone/>
              <a:defRPr sz="2133"/>
            </a:lvl3pPr>
            <a:lvl4pPr marL="2437700" indent="0">
              <a:buNone/>
              <a:defRPr sz="1778"/>
            </a:lvl4pPr>
            <a:lvl5pPr marL="3250265" indent="0">
              <a:buNone/>
              <a:defRPr sz="1778"/>
            </a:lvl5pPr>
            <a:lvl6pPr marL="4062831" indent="0">
              <a:buNone/>
              <a:defRPr sz="1778"/>
            </a:lvl6pPr>
            <a:lvl7pPr marL="4875398" indent="0">
              <a:buNone/>
              <a:defRPr sz="1778"/>
            </a:lvl7pPr>
            <a:lvl8pPr marL="5687964" indent="0">
              <a:buNone/>
              <a:defRPr sz="1778"/>
            </a:lvl8pPr>
            <a:lvl9pPr marL="6500531" indent="0">
              <a:buNone/>
              <a:defRPr sz="1778"/>
            </a:lvl9pPr>
          </a:lstStyle>
          <a:p>
            <a:pPr lvl="0"/>
            <a:r>
              <a:rPr lang="en-US" dirty="0"/>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9/27/2026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10032045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3600450"/>
            <a:ext cx="6447500" cy="425054"/>
          </a:xfrm>
        </p:spPr>
        <p:txBody>
          <a:bodyPr anchor="b">
            <a:normAutofit/>
          </a:bodyPr>
          <a:lstStyle>
            <a:lvl1pPr algn="l">
              <a:defRPr sz="4267" b="0"/>
            </a:lvl1pPr>
          </a:lstStyle>
          <a:p>
            <a:r>
              <a:rPr lang="en-US" dirty="0"/>
              <a:t>Click to edit Master title style</a:t>
            </a:r>
          </a:p>
        </p:txBody>
      </p:sp>
      <p:sp>
        <p:nvSpPr>
          <p:cNvPr id="3" name="Picture Placeholder 2"/>
          <p:cNvSpPr>
            <a:spLocks noGrp="1" noChangeAspect="1"/>
          </p:cNvSpPr>
          <p:nvPr>
            <p:ph type="pic" idx="1"/>
          </p:nvPr>
        </p:nvSpPr>
        <p:spPr>
          <a:xfrm>
            <a:off x="508001" y="457200"/>
            <a:ext cx="6447501" cy="2884289"/>
          </a:xfrm>
        </p:spPr>
        <p:txBody>
          <a:bodyPr anchor="t">
            <a:normAutofit/>
          </a:bodyPr>
          <a:lstStyle>
            <a:lvl1pPr marL="0" indent="0" algn="ctr">
              <a:buNone/>
              <a:defRPr sz="2844"/>
            </a:lvl1pPr>
            <a:lvl2pPr marL="812810" indent="0">
              <a:buNone/>
              <a:defRPr sz="2844"/>
            </a:lvl2pPr>
            <a:lvl3pPr marL="1625620" indent="0">
              <a:buNone/>
              <a:defRPr sz="2844"/>
            </a:lvl3pPr>
            <a:lvl4pPr marL="2438430" indent="0">
              <a:buNone/>
              <a:defRPr sz="2844"/>
            </a:lvl4pPr>
            <a:lvl5pPr marL="3251241" indent="0">
              <a:buNone/>
              <a:defRPr sz="2844"/>
            </a:lvl5pPr>
            <a:lvl6pPr marL="4064051" indent="0">
              <a:buNone/>
              <a:defRPr sz="2844"/>
            </a:lvl6pPr>
            <a:lvl7pPr marL="4876861" indent="0">
              <a:buNone/>
              <a:defRPr sz="2844"/>
            </a:lvl7pPr>
            <a:lvl8pPr marL="5689671" indent="0">
              <a:buNone/>
              <a:defRPr sz="2844"/>
            </a:lvl8pPr>
            <a:lvl9pPr marL="6502481" indent="0">
              <a:buNone/>
              <a:defRPr sz="2844"/>
            </a:lvl9pPr>
          </a:lstStyle>
          <a:p>
            <a:endParaRPr lang="en-US" dirty="0"/>
          </a:p>
        </p:txBody>
      </p:sp>
      <p:sp>
        <p:nvSpPr>
          <p:cNvPr id="4" name="Text Placeholder 3"/>
          <p:cNvSpPr>
            <a:spLocks noGrp="1"/>
          </p:cNvSpPr>
          <p:nvPr>
            <p:ph type="body" sz="half" idx="2"/>
          </p:nvPr>
        </p:nvSpPr>
        <p:spPr>
          <a:xfrm>
            <a:off x="508001" y="4025504"/>
            <a:ext cx="6447500" cy="505518"/>
          </a:xfrm>
        </p:spPr>
        <p:txBody>
          <a:bodyPr>
            <a:normAutofit/>
          </a:bodyPr>
          <a:lstStyle>
            <a:lvl1pPr marL="0" indent="0">
              <a:buNone/>
              <a:defRPr sz="2133"/>
            </a:lvl1pPr>
            <a:lvl2pPr marL="812810" indent="0">
              <a:buNone/>
              <a:defRPr sz="2133"/>
            </a:lvl2pPr>
            <a:lvl3pPr marL="1625620" indent="0">
              <a:buNone/>
              <a:defRPr sz="1778"/>
            </a:lvl3pPr>
            <a:lvl4pPr marL="2438430" indent="0">
              <a:buNone/>
              <a:defRPr sz="1600"/>
            </a:lvl4pPr>
            <a:lvl5pPr marL="3251241" indent="0">
              <a:buNone/>
              <a:defRPr sz="1600"/>
            </a:lvl5pPr>
            <a:lvl6pPr marL="4064051" indent="0">
              <a:buNone/>
              <a:defRPr sz="1600"/>
            </a:lvl6pPr>
            <a:lvl7pPr marL="4876861" indent="0">
              <a:buNone/>
              <a:defRPr sz="1600"/>
            </a:lvl7pPr>
            <a:lvl8pPr marL="5689671" indent="0">
              <a:buNone/>
              <a:defRPr sz="1600"/>
            </a:lvl8pPr>
            <a:lvl9pPr marL="6502481" indent="0">
              <a:buNone/>
              <a:defRPr sz="1600"/>
            </a:lvl9pPr>
          </a:lstStyle>
          <a:p>
            <a:pPr lvl="0"/>
            <a:r>
              <a:rPr lang="en-US" dirty="0"/>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9/27/2026</a:t>
            </a:fld>
            <a:endParaRPr lang="en-US" dirty="0"/>
          </a:p>
        </p:txBody>
      </p:sp>
    </p:spTree>
    <p:extLst>
      <p:ext uri="{BB962C8B-B14F-4D97-AF65-F5344CB8AC3E}">
        <p14:creationId xmlns:p14="http://schemas.microsoft.com/office/powerpoint/2010/main" val="22962594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2552700"/>
          </a:xfrm>
        </p:spPr>
        <p:txBody>
          <a:bodyPr anchor="ctr">
            <a:normAutofit/>
          </a:bodyPr>
          <a:lstStyle>
            <a:lvl1pPr algn="l">
              <a:defRPr sz="7822" b="0" cap="none"/>
            </a:lvl1pPr>
          </a:lstStyle>
          <a:p>
            <a:r>
              <a:rPr lang="en-US" dirty="0"/>
              <a:t>Click to edit Master title style</a:t>
            </a:r>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3200">
                <a:solidFill>
                  <a:schemeClr val="tx1">
                    <a:lumMod val="75000"/>
                    <a:lumOff val="25000"/>
                  </a:schemeClr>
                </a:solidFill>
              </a:defRPr>
            </a:lvl1pPr>
            <a:lvl2pPr marL="812810" indent="0">
              <a:buNone/>
              <a:defRPr sz="3200">
                <a:solidFill>
                  <a:schemeClr val="tx1">
                    <a:tint val="75000"/>
                  </a:schemeClr>
                </a:solidFill>
              </a:defRPr>
            </a:lvl2pPr>
            <a:lvl3pPr marL="1625620" indent="0">
              <a:buNone/>
              <a:defRPr sz="2844">
                <a:solidFill>
                  <a:schemeClr val="tx1">
                    <a:tint val="75000"/>
                  </a:schemeClr>
                </a:solidFill>
              </a:defRPr>
            </a:lvl3pPr>
            <a:lvl4pPr marL="2438430" indent="0">
              <a:buNone/>
              <a:defRPr sz="2489">
                <a:solidFill>
                  <a:schemeClr val="tx1">
                    <a:tint val="75000"/>
                  </a:schemeClr>
                </a:solidFill>
              </a:defRPr>
            </a:lvl4pPr>
            <a:lvl5pPr marL="3251241" indent="0">
              <a:buNone/>
              <a:defRPr sz="2489">
                <a:solidFill>
                  <a:schemeClr val="tx1">
                    <a:tint val="75000"/>
                  </a:schemeClr>
                </a:solidFill>
              </a:defRPr>
            </a:lvl5pPr>
            <a:lvl6pPr marL="4064051" indent="0">
              <a:buNone/>
              <a:defRPr sz="2489">
                <a:solidFill>
                  <a:schemeClr val="tx1">
                    <a:tint val="75000"/>
                  </a:schemeClr>
                </a:solidFill>
              </a:defRPr>
            </a:lvl6pPr>
            <a:lvl7pPr marL="4876861" indent="0">
              <a:buNone/>
              <a:defRPr sz="2489">
                <a:solidFill>
                  <a:schemeClr val="tx1">
                    <a:tint val="75000"/>
                  </a:schemeClr>
                </a:solidFill>
              </a:defRPr>
            </a:lvl7pPr>
            <a:lvl8pPr marL="5689671" indent="0">
              <a:buNone/>
              <a:defRPr sz="2489">
                <a:solidFill>
                  <a:schemeClr val="tx1">
                    <a:tint val="75000"/>
                  </a:schemeClr>
                </a:solidFill>
              </a:defRPr>
            </a:lvl8pPr>
            <a:lvl9pPr marL="6502481" indent="0">
              <a:buNone/>
              <a:defRPr sz="2489">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541323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7822" b="0" cap="none"/>
            </a:lvl1pPr>
          </a:lstStyle>
          <a:p>
            <a:r>
              <a:rPr lang="en-US" dirty="0"/>
              <a:t>Click to edit Master title style</a:t>
            </a:r>
          </a:p>
        </p:txBody>
      </p:sp>
      <p:sp>
        <p:nvSpPr>
          <p:cNvPr id="23" name="Text Placeholder 9"/>
          <p:cNvSpPr>
            <a:spLocks noGrp="1"/>
          </p:cNvSpPr>
          <p:nvPr>
            <p:ph type="body" sz="quarter" idx="13"/>
          </p:nvPr>
        </p:nvSpPr>
        <p:spPr>
          <a:xfrm>
            <a:off x="1024604" y="2724150"/>
            <a:ext cx="5418393" cy="285750"/>
          </a:xfrm>
        </p:spPr>
        <p:txBody>
          <a:bodyPr anchor="ctr">
            <a:noAutofit/>
          </a:bodyPr>
          <a:lstStyle>
            <a:lvl1pPr marL="0" indent="0">
              <a:buFontTx/>
              <a:buNone/>
              <a:defRPr sz="2844">
                <a:solidFill>
                  <a:schemeClr val="tx1">
                    <a:lumMod val="50000"/>
                    <a:lumOff val="50000"/>
                  </a:schemeClr>
                </a:solidFill>
              </a:defRPr>
            </a:lvl1pPr>
            <a:lvl2pPr marL="812810" indent="0">
              <a:buFontTx/>
              <a:buNone/>
              <a:defRPr/>
            </a:lvl2pPr>
            <a:lvl3pPr marL="1625620" indent="0">
              <a:buFontTx/>
              <a:buNone/>
              <a:defRPr/>
            </a:lvl3pPr>
            <a:lvl4pPr marL="2438430" indent="0">
              <a:buFontTx/>
              <a:buNone/>
              <a:defRPr/>
            </a:lvl4pPr>
            <a:lvl5pPr marL="3251241"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3200">
                <a:solidFill>
                  <a:schemeClr val="tx1">
                    <a:lumMod val="75000"/>
                    <a:lumOff val="25000"/>
                  </a:schemeClr>
                </a:solidFill>
              </a:defRPr>
            </a:lvl1pPr>
            <a:lvl2pPr marL="812810" indent="0">
              <a:buNone/>
              <a:defRPr sz="3200">
                <a:solidFill>
                  <a:schemeClr val="tx1">
                    <a:tint val="75000"/>
                  </a:schemeClr>
                </a:solidFill>
              </a:defRPr>
            </a:lvl2pPr>
            <a:lvl3pPr marL="1625620" indent="0">
              <a:buNone/>
              <a:defRPr sz="2844">
                <a:solidFill>
                  <a:schemeClr val="tx1">
                    <a:tint val="75000"/>
                  </a:schemeClr>
                </a:solidFill>
              </a:defRPr>
            </a:lvl3pPr>
            <a:lvl4pPr marL="2438430" indent="0">
              <a:buNone/>
              <a:defRPr sz="2489">
                <a:solidFill>
                  <a:schemeClr val="tx1">
                    <a:tint val="75000"/>
                  </a:schemeClr>
                </a:solidFill>
              </a:defRPr>
            </a:lvl4pPr>
            <a:lvl5pPr marL="3251241" indent="0">
              <a:buNone/>
              <a:defRPr sz="2489">
                <a:solidFill>
                  <a:schemeClr val="tx1">
                    <a:tint val="75000"/>
                  </a:schemeClr>
                </a:solidFill>
              </a:defRPr>
            </a:lvl5pPr>
            <a:lvl6pPr marL="4064051" indent="0">
              <a:buNone/>
              <a:defRPr sz="2489">
                <a:solidFill>
                  <a:schemeClr val="tx1">
                    <a:tint val="75000"/>
                  </a:schemeClr>
                </a:solidFill>
              </a:defRPr>
            </a:lvl6pPr>
            <a:lvl7pPr marL="4876861" indent="0">
              <a:buNone/>
              <a:defRPr sz="2489">
                <a:solidFill>
                  <a:schemeClr val="tx1">
                    <a:tint val="75000"/>
                  </a:schemeClr>
                </a:solidFill>
              </a:defRPr>
            </a:lvl7pPr>
            <a:lvl8pPr marL="5689671" indent="0">
              <a:buNone/>
              <a:defRPr sz="2489">
                <a:solidFill>
                  <a:schemeClr val="tx1">
                    <a:tint val="75000"/>
                  </a:schemeClr>
                </a:solidFill>
              </a:defRPr>
            </a:lvl8pPr>
            <a:lvl9pPr marL="6502481" indent="0">
              <a:buNone/>
              <a:defRPr sz="2489">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406403" y="592784"/>
            <a:ext cx="457200" cy="438582"/>
          </a:xfrm>
          <a:prstGeom prst="rect">
            <a:avLst/>
          </a:prstGeom>
        </p:spPr>
        <p:txBody>
          <a:bodyPr vert="horz" lIns="162560" tIns="81280" rIns="162560" bIns="81280" rtlCol="0" anchor="ctr">
            <a:noAutofit/>
          </a:bodyPr>
          <a:lstStyle/>
          <a:p>
            <a:pPr lvl="0"/>
            <a:r>
              <a:rPr lang="en-US" sz="14222"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669758" y="2164917"/>
            <a:ext cx="457200" cy="438582"/>
          </a:xfrm>
          <a:prstGeom prst="rect">
            <a:avLst/>
          </a:prstGeom>
        </p:spPr>
        <p:txBody>
          <a:bodyPr vert="horz" lIns="162560" tIns="81280" rIns="162560" bIns="81280" rtlCol="0" anchor="ctr">
            <a:noAutofit/>
          </a:bodyPr>
          <a:lstStyle/>
          <a:p>
            <a:pPr lvl="0"/>
            <a:r>
              <a:rPr lang="en-US" sz="14222"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1985902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448991"/>
            <a:ext cx="6447501" cy="1946595"/>
          </a:xfrm>
        </p:spPr>
        <p:txBody>
          <a:bodyPr anchor="b">
            <a:normAutofit/>
          </a:bodyPr>
          <a:lstStyle>
            <a:lvl1pPr algn="l">
              <a:defRPr sz="7822" b="0" cap="none"/>
            </a:lvl1pPr>
          </a:lstStyle>
          <a:p>
            <a:r>
              <a:rPr lang="en-US" dirty="0"/>
              <a:t>Click to edit Master title style</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3200">
                <a:solidFill>
                  <a:schemeClr val="tx1">
                    <a:lumMod val="75000"/>
                    <a:lumOff val="25000"/>
                  </a:schemeClr>
                </a:solidFill>
              </a:defRPr>
            </a:lvl1pPr>
            <a:lvl2pPr marL="812810" indent="0">
              <a:buNone/>
              <a:defRPr sz="3200">
                <a:solidFill>
                  <a:schemeClr val="tx1">
                    <a:tint val="75000"/>
                  </a:schemeClr>
                </a:solidFill>
              </a:defRPr>
            </a:lvl2pPr>
            <a:lvl3pPr marL="1625620" indent="0">
              <a:buNone/>
              <a:defRPr sz="2844">
                <a:solidFill>
                  <a:schemeClr val="tx1">
                    <a:tint val="75000"/>
                  </a:schemeClr>
                </a:solidFill>
              </a:defRPr>
            </a:lvl3pPr>
            <a:lvl4pPr marL="2438430" indent="0">
              <a:buNone/>
              <a:defRPr sz="2489">
                <a:solidFill>
                  <a:schemeClr val="tx1">
                    <a:tint val="75000"/>
                  </a:schemeClr>
                </a:solidFill>
              </a:defRPr>
            </a:lvl4pPr>
            <a:lvl5pPr marL="3251241" indent="0">
              <a:buNone/>
              <a:defRPr sz="2489">
                <a:solidFill>
                  <a:schemeClr val="tx1">
                    <a:tint val="75000"/>
                  </a:schemeClr>
                </a:solidFill>
              </a:defRPr>
            </a:lvl5pPr>
            <a:lvl6pPr marL="4064051" indent="0">
              <a:buNone/>
              <a:defRPr sz="2489">
                <a:solidFill>
                  <a:schemeClr val="tx1">
                    <a:tint val="75000"/>
                  </a:schemeClr>
                </a:solidFill>
              </a:defRPr>
            </a:lvl6pPr>
            <a:lvl7pPr marL="4876861" indent="0">
              <a:buNone/>
              <a:defRPr sz="2489">
                <a:solidFill>
                  <a:schemeClr val="tx1">
                    <a:tint val="75000"/>
                  </a:schemeClr>
                </a:solidFill>
              </a:defRPr>
            </a:lvl7pPr>
            <a:lvl8pPr marL="5689671" indent="0">
              <a:buNone/>
              <a:defRPr sz="2489">
                <a:solidFill>
                  <a:schemeClr val="tx1">
                    <a:tint val="75000"/>
                  </a:schemeClr>
                </a:solidFill>
              </a:defRPr>
            </a:lvl8pPr>
            <a:lvl9pPr marL="6502481" indent="0">
              <a:buNone/>
              <a:defRPr sz="2489">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92679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7822" b="0" cap="none"/>
            </a:lvl1pPr>
          </a:lstStyle>
          <a:p>
            <a:r>
              <a:rPr lang="en-US" dirty="0"/>
              <a:t>Click to edit Master title style</a:t>
            </a:r>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4267">
                <a:solidFill>
                  <a:schemeClr val="tx1">
                    <a:lumMod val="75000"/>
                    <a:lumOff val="25000"/>
                  </a:schemeClr>
                </a:solidFill>
              </a:defRPr>
            </a:lvl1pPr>
            <a:lvl2pPr marL="812810" indent="0">
              <a:buFontTx/>
              <a:buNone/>
              <a:defRPr/>
            </a:lvl2pPr>
            <a:lvl3pPr marL="1625620" indent="0">
              <a:buFontTx/>
              <a:buNone/>
              <a:defRPr/>
            </a:lvl3pPr>
            <a:lvl4pPr marL="2438430" indent="0">
              <a:buFontTx/>
              <a:buNone/>
              <a:defRPr/>
            </a:lvl4pPr>
            <a:lvl5pPr marL="3251241"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3200">
                <a:solidFill>
                  <a:schemeClr val="tx1">
                    <a:lumMod val="50000"/>
                    <a:lumOff val="50000"/>
                  </a:schemeClr>
                </a:solidFill>
              </a:defRPr>
            </a:lvl1pPr>
            <a:lvl2pPr marL="812810" indent="0">
              <a:buNone/>
              <a:defRPr sz="3200">
                <a:solidFill>
                  <a:schemeClr val="tx1">
                    <a:tint val="75000"/>
                  </a:schemeClr>
                </a:solidFill>
              </a:defRPr>
            </a:lvl2pPr>
            <a:lvl3pPr marL="1625620" indent="0">
              <a:buNone/>
              <a:defRPr sz="2844">
                <a:solidFill>
                  <a:schemeClr val="tx1">
                    <a:tint val="75000"/>
                  </a:schemeClr>
                </a:solidFill>
              </a:defRPr>
            </a:lvl3pPr>
            <a:lvl4pPr marL="2438430" indent="0">
              <a:buNone/>
              <a:defRPr sz="2489">
                <a:solidFill>
                  <a:schemeClr val="tx1">
                    <a:tint val="75000"/>
                  </a:schemeClr>
                </a:solidFill>
              </a:defRPr>
            </a:lvl4pPr>
            <a:lvl5pPr marL="3251241" indent="0">
              <a:buNone/>
              <a:defRPr sz="2489">
                <a:solidFill>
                  <a:schemeClr val="tx1">
                    <a:tint val="75000"/>
                  </a:schemeClr>
                </a:solidFill>
              </a:defRPr>
            </a:lvl5pPr>
            <a:lvl6pPr marL="4064051" indent="0">
              <a:buNone/>
              <a:defRPr sz="2489">
                <a:solidFill>
                  <a:schemeClr val="tx1">
                    <a:tint val="75000"/>
                  </a:schemeClr>
                </a:solidFill>
              </a:defRPr>
            </a:lvl6pPr>
            <a:lvl7pPr marL="4876861" indent="0">
              <a:buNone/>
              <a:defRPr sz="2489">
                <a:solidFill>
                  <a:schemeClr val="tx1">
                    <a:tint val="75000"/>
                  </a:schemeClr>
                </a:solidFill>
              </a:defRPr>
            </a:lvl7pPr>
            <a:lvl8pPr marL="5689671" indent="0">
              <a:buNone/>
              <a:defRPr sz="2489">
                <a:solidFill>
                  <a:schemeClr val="tx1">
                    <a:tint val="75000"/>
                  </a:schemeClr>
                </a:solidFill>
              </a:defRPr>
            </a:lvl8pPr>
            <a:lvl9pPr marL="6502481" indent="0">
              <a:buNone/>
              <a:defRPr sz="2489">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406403" y="592784"/>
            <a:ext cx="457200" cy="438582"/>
          </a:xfrm>
          <a:prstGeom prst="rect">
            <a:avLst/>
          </a:prstGeom>
        </p:spPr>
        <p:txBody>
          <a:bodyPr vert="horz" lIns="162560" tIns="81280" rIns="162560" bIns="81280" rtlCol="0" anchor="ctr">
            <a:noAutofit/>
          </a:bodyPr>
          <a:lstStyle/>
          <a:p>
            <a:pPr lvl="0"/>
            <a:r>
              <a:rPr lang="en-US" sz="14222"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669758" y="2164917"/>
            <a:ext cx="457200" cy="438582"/>
          </a:xfrm>
          <a:prstGeom prst="rect">
            <a:avLst/>
          </a:prstGeom>
        </p:spPr>
        <p:txBody>
          <a:bodyPr vert="horz" lIns="162560" tIns="81280" rIns="162560" bIns="81280" rtlCol="0" anchor="ctr">
            <a:noAutofit/>
          </a:bodyPr>
          <a:lstStyle/>
          <a:p>
            <a:pPr lvl="0"/>
            <a:r>
              <a:rPr lang="en-US" sz="14222"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6607396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0" y="457200"/>
            <a:ext cx="6441152" cy="2266950"/>
          </a:xfrm>
        </p:spPr>
        <p:txBody>
          <a:bodyPr anchor="ctr">
            <a:normAutofit/>
          </a:bodyPr>
          <a:lstStyle>
            <a:lvl1pPr algn="l">
              <a:defRPr sz="7822" b="0" cap="none"/>
            </a:lvl1pPr>
          </a:lstStyle>
          <a:p>
            <a:r>
              <a:rPr lang="en-US" dirty="0"/>
              <a:t>Click to edit Master title style</a:t>
            </a:r>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4267">
                <a:solidFill>
                  <a:schemeClr val="accent1"/>
                </a:solidFill>
              </a:defRPr>
            </a:lvl1pPr>
            <a:lvl2pPr marL="812810" indent="0">
              <a:buFontTx/>
              <a:buNone/>
              <a:defRPr/>
            </a:lvl2pPr>
            <a:lvl3pPr marL="1625620" indent="0">
              <a:buFontTx/>
              <a:buNone/>
              <a:defRPr/>
            </a:lvl3pPr>
            <a:lvl4pPr marL="2438430" indent="0">
              <a:buFontTx/>
              <a:buNone/>
              <a:defRPr/>
            </a:lvl4pPr>
            <a:lvl5pPr marL="3251241"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3200">
                <a:solidFill>
                  <a:schemeClr val="tx1">
                    <a:lumMod val="50000"/>
                    <a:lumOff val="50000"/>
                  </a:schemeClr>
                </a:solidFill>
              </a:defRPr>
            </a:lvl1pPr>
            <a:lvl2pPr marL="812810" indent="0">
              <a:buNone/>
              <a:defRPr sz="3200">
                <a:solidFill>
                  <a:schemeClr val="tx1">
                    <a:tint val="75000"/>
                  </a:schemeClr>
                </a:solidFill>
              </a:defRPr>
            </a:lvl2pPr>
            <a:lvl3pPr marL="1625620" indent="0">
              <a:buNone/>
              <a:defRPr sz="2844">
                <a:solidFill>
                  <a:schemeClr val="tx1">
                    <a:tint val="75000"/>
                  </a:schemeClr>
                </a:solidFill>
              </a:defRPr>
            </a:lvl3pPr>
            <a:lvl4pPr marL="2438430" indent="0">
              <a:buNone/>
              <a:defRPr sz="2489">
                <a:solidFill>
                  <a:schemeClr val="tx1">
                    <a:tint val="75000"/>
                  </a:schemeClr>
                </a:solidFill>
              </a:defRPr>
            </a:lvl4pPr>
            <a:lvl5pPr marL="3251241" indent="0">
              <a:buNone/>
              <a:defRPr sz="2489">
                <a:solidFill>
                  <a:schemeClr val="tx1">
                    <a:tint val="75000"/>
                  </a:schemeClr>
                </a:solidFill>
              </a:defRPr>
            </a:lvl5pPr>
            <a:lvl6pPr marL="4064051" indent="0">
              <a:buNone/>
              <a:defRPr sz="2489">
                <a:solidFill>
                  <a:schemeClr val="tx1">
                    <a:tint val="75000"/>
                  </a:schemeClr>
                </a:solidFill>
              </a:defRPr>
            </a:lvl6pPr>
            <a:lvl7pPr marL="4876861" indent="0">
              <a:buNone/>
              <a:defRPr sz="2489">
                <a:solidFill>
                  <a:schemeClr val="tx1">
                    <a:tint val="75000"/>
                  </a:schemeClr>
                </a:solidFill>
              </a:defRPr>
            </a:lvl7pPr>
            <a:lvl8pPr marL="5689671" indent="0">
              <a:buNone/>
              <a:defRPr sz="2489">
                <a:solidFill>
                  <a:schemeClr val="tx1">
                    <a:tint val="75000"/>
                  </a:schemeClr>
                </a:solidFill>
              </a:defRPr>
            </a:lvl8pPr>
            <a:lvl9pPr marL="6502481" indent="0">
              <a:buNone/>
              <a:defRPr sz="2489">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7726483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5C6B4A9-1611-4792-9094-5F34BCA07E0B}" type="datetimeFigureOut">
              <a:rPr lang="en-US" dirty="0"/>
              <a:t>9/27/2026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extLst>
      <p:ext uri="{BB962C8B-B14F-4D97-AF65-F5344CB8AC3E}">
        <p14:creationId xmlns:p14="http://schemas.microsoft.com/office/powerpoint/2010/main" val="5332983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55" y="457200"/>
            <a:ext cx="978557" cy="3938588"/>
          </a:xfrm>
        </p:spPr>
        <p:txBody>
          <a:bodyPr vert="eaVert" anchor="ctr"/>
          <a:lstStyle/>
          <a:p>
            <a:r>
              <a:rPr lang="en-US" dirty="0"/>
              <a:t>Click to edit Master title style</a:t>
            </a:r>
          </a:p>
        </p:txBody>
      </p:sp>
      <p:sp>
        <p:nvSpPr>
          <p:cNvPr id="3" name="Vertical Text Placeholder 2"/>
          <p:cNvSpPr>
            <a:spLocks noGrp="1"/>
          </p:cNvSpPr>
          <p:nvPr>
            <p:ph type="body" orient="vert" idx="1"/>
          </p:nvPr>
        </p:nvSpPr>
        <p:spPr>
          <a:xfrm>
            <a:off x="508001" y="457200"/>
            <a:ext cx="5295113" cy="393858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9/27/2026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880712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1_Section Header">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54E7A70C-B49B-5779-BA11-88AE4939E04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533016" y="62344"/>
            <a:ext cx="548640" cy="548640"/>
          </a:xfrm>
          <a:prstGeom prst="rect">
            <a:avLst/>
          </a:prstGeom>
        </p:spPr>
      </p:pic>
      <p:sp>
        <p:nvSpPr>
          <p:cNvPr id="3" name="Title 2">
            <a:extLst>
              <a:ext uri="{FF2B5EF4-FFF2-40B4-BE49-F238E27FC236}">
                <a16:creationId xmlns:a16="http://schemas.microsoft.com/office/drawing/2014/main" id="{68197F50-0DC4-261A-813C-264E7361D716}"/>
              </a:ext>
            </a:extLst>
          </p:cNvPr>
          <p:cNvSpPr>
            <a:spLocks noGrp="1"/>
          </p:cNvSpPr>
          <p:nvPr>
            <p:ph type="title"/>
          </p:nvPr>
        </p:nvSpPr>
        <p:spPr>
          <a:xfrm>
            <a:off x="-13716" y="1638024"/>
            <a:ext cx="6055614" cy="3538728"/>
          </a:xfrm>
        </p:spPr>
        <p:txBody>
          <a:bodyPr anchor="b"/>
          <a:lstStyle/>
          <a:p>
            <a:r>
              <a:rPr lang="en-US" dirty="0"/>
              <a:t>Click to edit Master title style</a:t>
            </a:r>
          </a:p>
        </p:txBody>
      </p:sp>
    </p:spTree>
    <p:extLst>
      <p:ext uri="{BB962C8B-B14F-4D97-AF65-F5344CB8AC3E}">
        <p14:creationId xmlns:p14="http://schemas.microsoft.com/office/powerpoint/2010/main" val="139357754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1620" userDrawn="1">
          <p15:clr>
            <a:srgbClr val="FBAE40"/>
          </p15:clr>
        </p15:guide>
        <p15:guide id="6" pos="288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31421905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6350"/>
            <a:ext cx="9144000" cy="5149850"/>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08001" y="457200"/>
            <a:ext cx="6447501" cy="99060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508001" y="1620442"/>
            <a:ext cx="6447501" cy="291058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403850" y="4531022"/>
            <a:ext cx="683954" cy="273844"/>
          </a:xfrm>
          <a:prstGeom prst="rect">
            <a:avLst/>
          </a:prstGeom>
        </p:spPr>
        <p:txBody>
          <a:bodyPr vert="horz" lIns="91440" tIns="45720" rIns="91440" bIns="45720" rtlCol="0" anchor="ctr"/>
          <a:lstStyle>
            <a:lvl1pPr algn="r">
              <a:defRPr sz="1600">
                <a:solidFill>
                  <a:schemeClr val="tx1">
                    <a:tint val="75000"/>
                  </a:schemeClr>
                </a:solidFill>
              </a:defRPr>
            </a:lvl1pPr>
          </a:lstStyle>
          <a:p>
            <a:fld id="{B61BEF0D-F0BB-DE4B-95CE-6DB70DBA9567}" type="datetimeFigureOut">
              <a:rPr lang="en-US" dirty="0"/>
              <a:pPr/>
              <a:t>9/27/2026</a:t>
            </a:fld>
            <a:endParaRPr lang="en-US" dirty="0"/>
          </a:p>
        </p:txBody>
      </p:sp>
      <p:sp>
        <p:nvSpPr>
          <p:cNvPr id="5" name="Footer Placeholder 4"/>
          <p:cNvSpPr>
            <a:spLocks noGrp="1"/>
          </p:cNvSpPr>
          <p:nvPr>
            <p:ph type="ftr" sz="quarter" idx="3"/>
          </p:nvPr>
        </p:nvSpPr>
        <p:spPr>
          <a:xfrm>
            <a:off x="508001" y="4531022"/>
            <a:ext cx="4723209" cy="273844"/>
          </a:xfrm>
          <a:prstGeom prst="rect">
            <a:avLst/>
          </a:prstGeom>
        </p:spPr>
        <p:txBody>
          <a:bodyPr vert="horz" lIns="91440" tIns="45720" rIns="91440" bIns="45720" rtlCol="0" anchor="ctr"/>
          <a:lstStyle>
            <a:lvl1pPr algn="l">
              <a:defRPr sz="16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42998" y="4531022"/>
            <a:ext cx="512504" cy="273844"/>
          </a:xfrm>
          <a:prstGeom prst="rect">
            <a:avLst/>
          </a:prstGeom>
        </p:spPr>
        <p:txBody>
          <a:bodyPr vert="horz" lIns="91440" tIns="45720" rIns="91440" bIns="45720" rtlCol="0" anchor="ctr"/>
          <a:lstStyle>
            <a:lvl1pPr algn="r">
              <a:defRPr sz="1600">
                <a:solidFill>
                  <a:schemeClr val="accent1"/>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662286327"/>
      </p:ext>
    </p:extLst>
  </p:cSld>
  <p:clrMap bg1="lt1" tx1="dk1" bg2="lt2" tx2="dk2" accent1="accent1" accent2="accent2" accent3="accent3" accent4="accent4" accent5="accent5" accent6="accent6" hlink="hlink" folHlink="folHlink"/>
  <p:sldLayoutIdLst>
    <p:sldLayoutId id="2147484335" r:id="rId1"/>
    <p:sldLayoutId id="2147484336" r:id="rId2"/>
    <p:sldLayoutId id="2147484337" r:id="rId3"/>
    <p:sldLayoutId id="2147484338" r:id="rId4"/>
    <p:sldLayoutId id="2147484339" r:id="rId5"/>
    <p:sldLayoutId id="2147484340" r:id="rId6"/>
    <p:sldLayoutId id="2147484341" r:id="rId7"/>
    <p:sldLayoutId id="2147484342" r:id="rId8"/>
    <p:sldLayoutId id="2147484343" r:id="rId9"/>
    <p:sldLayoutId id="2147484344" r:id="rId10"/>
    <p:sldLayoutId id="2147484345" r:id="rId11"/>
    <p:sldLayoutId id="2147484346" r:id="rId12"/>
    <p:sldLayoutId id="2147484347" r:id="rId13"/>
    <p:sldLayoutId id="2147484348" r:id="rId14"/>
    <p:sldLayoutId id="2147484349" r:id="rId15"/>
    <p:sldLayoutId id="2147484350" r:id="rId16"/>
    <p:sldLayoutId id="2147484351" r:id="rId17"/>
    <p:sldLayoutId id="2147484352" r:id="rId18"/>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1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0ADFFC45-3DC9-4433-926F-043E879D9D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 name="Group 36">
            <a:extLst>
              <a:ext uri="{FF2B5EF4-FFF2-40B4-BE49-F238E27FC236}">
                <a16:creationId xmlns:a16="http://schemas.microsoft.com/office/drawing/2014/main" id="{B5F26A87-0610-435F-AA13-BD658385C9D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00422" y="-6351"/>
            <a:ext cx="3572669" cy="5149850"/>
            <a:chOff x="67175" y="-8467"/>
            <a:chExt cx="4763558" cy="6866467"/>
          </a:xfrm>
        </p:grpSpPr>
        <p:cxnSp>
          <p:nvCxnSpPr>
            <p:cNvPr id="11" name="Straight Connector 10">
              <a:extLst>
                <a:ext uri="{FF2B5EF4-FFF2-40B4-BE49-F238E27FC236}">
                  <a16:creationId xmlns:a16="http://schemas.microsoft.com/office/drawing/2014/main" id="{E6321436-5AAD-4FB6-BB0D-316D4540E82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1448300"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4B0BD33-3D46-4F43-947A-825DFEF6106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67175"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92E26C27-E1F5-47DC-9F83-469D196C55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58764"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9" name="Rectangle 25">
              <a:extLst>
                <a:ext uri="{FF2B5EF4-FFF2-40B4-BE49-F238E27FC236}">
                  <a16:creationId xmlns:a16="http://schemas.microsoft.com/office/drawing/2014/main" id="{95F944E7-2B4E-4AE2-B4DB-846FF8AE0B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80730"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Isosceles Triangle 14">
              <a:extLst>
                <a:ext uri="{FF2B5EF4-FFF2-40B4-BE49-F238E27FC236}">
                  <a16:creationId xmlns:a16="http://schemas.microsoft.com/office/drawing/2014/main" id="{FF14952D-390F-46CC-B302-73DDD9C41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9621"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40" name="Rectangle 27">
              <a:extLst>
                <a:ext uri="{FF2B5EF4-FFF2-40B4-BE49-F238E27FC236}">
                  <a16:creationId xmlns:a16="http://schemas.microsoft.com/office/drawing/2014/main" id="{867CDE55-B22A-40D0-882A-9452919EEC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11788"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Isosceles Triangle 16">
              <a:extLst>
                <a:ext uri="{FF2B5EF4-FFF2-40B4-BE49-F238E27FC236}">
                  <a16:creationId xmlns:a16="http://schemas.microsoft.com/office/drawing/2014/main" id="{8C409231-C942-4808-B529-DAC32A7DB0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448954"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a:extLst>
              <a:ext uri="{FF2B5EF4-FFF2-40B4-BE49-F238E27FC236}">
                <a16:creationId xmlns:a16="http://schemas.microsoft.com/office/drawing/2014/main" id="{4FD207BF-6602-8B4D-583A-8441494DE97E}"/>
              </a:ext>
            </a:extLst>
          </p:cNvPr>
          <p:cNvSpPr>
            <a:spLocks noGrp="1"/>
          </p:cNvSpPr>
          <p:nvPr>
            <p:ph type="ctrTitle"/>
          </p:nvPr>
        </p:nvSpPr>
        <p:spPr>
          <a:xfrm>
            <a:off x="508001" y="962025"/>
            <a:ext cx="3822045" cy="3230361"/>
          </a:xfrm>
        </p:spPr>
        <p:txBody>
          <a:bodyPr anchor="ctr">
            <a:normAutofit/>
          </a:bodyPr>
          <a:lstStyle/>
          <a:p>
            <a:r>
              <a:rPr lang="en-US" sz="6000"/>
              <a:t>WELCOME</a:t>
            </a:r>
          </a:p>
        </p:txBody>
      </p:sp>
      <p:sp>
        <p:nvSpPr>
          <p:cNvPr id="19" name="Freeform: Shape 18">
            <a:extLst>
              <a:ext uri="{FF2B5EF4-FFF2-40B4-BE49-F238E27FC236}">
                <a16:creationId xmlns:a16="http://schemas.microsoft.com/office/drawing/2014/main" id="{69370F01-B8C9-4CE4-824C-92B2792E6E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52372" y="-6351"/>
            <a:ext cx="3806198" cy="5149851"/>
          </a:xfrm>
          <a:custGeom>
            <a:avLst/>
            <a:gdLst>
              <a:gd name="connsiteX0" fmla="*/ 0 w 5074930"/>
              <a:gd name="connsiteY0" fmla="*/ 0 h 6858000"/>
              <a:gd name="connsiteX1" fmla="*/ 1249825 w 5074930"/>
              <a:gd name="connsiteY1" fmla="*/ 0 h 6858000"/>
              <a:gd name="connsiteX2" fmla="*/ 1249825 w 5074930"/>
              <a:gd name="connsiteY2" fmla="*/ 8457 h 6858000"/>
              <a:gd name="connsiteX3" fmla="*/ 5074930 w 5074930"/>
              <a:gd name="connsiteY3" fmla="*/ 8457 h 6858000"/>
              <a:gd name="connsiteX4" fmla="*/ 5074930 w 5074930"/>
              <a:gd name="connsiteY4" fmla="*/ 6858000 h 6858000"/>
              <a:gd name="connsiteX5" fmla="*/ 1249825 w 5074930"/>
              <a:gd name="connsiteY5" fmla="*/ 6858000 h 6858000"/>
              <a:gd name="connsiteX6" fmla="*/ 1109383 w 507493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74930" h="6858000">
                <a:moveTo>
                  <a:pt x="0" y="0"/>
                </a:moveTo>
                <a:lnTo>
                  <a:pt x="1249825" y="0"/>
                </a:lnTo>
                <a:lnTo>
                  <a:pt x="1249825" y="8457"/>
                </a:lnTo>
                <a:lnTo>
                  <a:pt x="5074930" y="8457"/>
                </a:lnTo>
                <a:lnTo>
                  <a:pt x="5074930" y="6858000"/>
                </a:lnTo>
                <a:lnTo>
                  <a:pt x="1249825" y="6858000"/>
                </a:lnTo>
                <a:lnTo>
                  <a:pt x="1109383" y="685800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990285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60" name="Google Shape;60;p14"/>
          <p:cNvSpPr txBox="1"/>
          <p:nvPr/>
        </p:nvSpPr>
        <p:spPr>
          <a:xfrm>
            <a:off x="4946779" y="3432750"/>
            <a:ext cx="3707795" cy="1284468"/>
          </a:xfrm>
          <a:prstGeom prst="rect">
            <a:avLst/>
          </a:prstGeom>
          <a:noFill/>
          <a:ln>
            <a:noFill/>
          </a:ln>
        </p:spPr>
        <p:txBody>
          <a:bodyPr spcFirstLastPara="1" wrap="square" lIns="91425" tIns="91425" rIns="91425" bIns="91425" anchor="t" anchorCtr="0">
            <a:noAutofit/>
          </a:bodyPr>
          <a:lstStyle/>
          <a:p>
            <a:r>
              <a:rPr lang="en" b="1" dirty="0">
                <a:solidFill>
                  <a:schemeClr val="dk1"/>
                </a:solidFill>
                <a:ea typeface="Calibri"/>
                <a:cs typeface="Calibri"/>
              </a:rPr>
              <a:t>POWER BI PROJECT REPORT :</a:t>
            </a:r>
          </a:p>
          <a:p>
            <a:r>
              <a:rPr lang="en" b="1" dirty="0">
                <a:solidFill>
                  <a:schemeClr val="dk1"/>
                </a:solidFill>
                <a:ea typeface="Calibri"/>
                <a:cs typeface="Calibri"/>
              </a:rPr>
              <a:t>                        SUBMITED BY,</a:t>
            </a:r>
          </a:p>
          <a:p>
            <a:r>
              <a:rPr lang="en" b="1" dirty="0">
                <a:solidFill>
                  <a:schemeClr val="dk1"/>
                </a:solidFill>
                <a:ea typeface="Calibri"/>
                <a:cs typeface="Calibri"/>
              </a:rPr>
              <a:t>                         </a:t>
            </a:r>
            <a:r>
              <a:rPr lang="en" sz="1600" dirty="0">
                <a:solidFill>
                  <a:schemeClr val="dk1"/>
                </a:solidFill>
                <a:ea typeface="Calibri"/>
                <a:cs typeface="Calibri"/>
              </a:rPr>
              <a:t>KEERTHANA PV </a:t>
            </a:r>
          </a:p>
        </p:txBody>
      </p:sp>
      <p:sp>
        <p:nvSpPr>
          <p:cNvPr id="7" name="TextBox 6">
            <a:extLst>
              <a:ext uri="{FF2B5EF4-FFF2-40B4-BE49-F238E27FC236}">
                <a16:creationId xmlns:a16="http://schemas.microsoft.com/office/drawing/2014/main" id="{46C8A802-24C9-FD52-2DE6-BAF0F7FD12A5}"/>
              </a:ext>
            </a:extLst>
          </p:cNvPr>
          <p:cNvSpPr txBox="1"/>
          <p:nvPr/>
        </p:nvSpPr>
        <p:spPr>
          <a:xfrm>
            <a:off x="3657600" y="1656521"/>
            <a:ext cx="1828800" cy="307777"/>
          </a:xfrm>
          <a:prstGeom prst="rect">
            <a:avLst/>
          </a:prstGeom>
          <a:noFill/>
        </p:spPr>
        <p:txBody>
          <a:bodyPr wrap="square" rtlCol="0">
            <a:spAutoFit/>
          </a:bodyPr>
          <a:lstStyle/>
          <a:p>
            <a:pPr algn="l"/>
            <a:endParaRPr lang="en-US" dirty="0"/>
          </a:p>
        </p:txBody>
      </p:sp>
      <p:sp>
        <p:nvSpPr>
          <p:cNvPr id="9" name="Title 8">
            <a:extLst>
              <a:ext uri="{FF2B5EF4-FFF2-40B4-BE49-F238E27FC236}">
                <a16:creationId xmlns:a16="http://schemas.microsoft.com/office/drawing/2014/main" id="{560A2300-68DD-797B-853E-4E854E6CA71D}"/>
              </a:ext>
            </a:extLst>
          </p:cNvPr>
          <p:cNvSpPr>
            <a:spLocks noGrp="1"/>
          </p:cNvSpPr>
          <p:nvPr>
            <p:ph type="ctrTitle"/>
          </p:nvPr>
        </p:nvSpPr>
        <p:spPr>
          <a:xfrm>
            <a:off x="729520" y="760927"/>
            <a:ext cx="5473087" cy="1200311"/>
          </a:xfrm>
        </p:spPr>
        <p:txBody>
          <a:bodyPr>
            <a:normAutofit/>
          </a:bodyPr>
          <a:lstStyle/>
          <a:p>
            <a:r>
              <a:rPr lang="en-US" sz="3200" dirty="0">
                <a:ea typeface="Calibri Light"/>
                <a:cs typeface="Calibri Light"/>
              </a:rPr>
              <a:t>SLEEP HEALTH &amp; LIFE STYLE </a:t>
            </a:r>
            <a:br>
              <a:rPr lang="en-US" sz="3200" dirty="0">
                <a:ea typeface="Calibri Light"/>
                <a:cs typeface="Calibri Light"/>
              </a:rPr>
            </a:br>
            <a:r>
              <a:rPr lang="en-US" sz="3200" dirty="0">
                <a:ea typeface="Calibri Light"/>
                <a:cs typeface="Calibri Light"/>
              </a:rPr>
              <a:t>   ANALYSIS REPORT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5"/>
          <p:cNvSpPr txBox="1">
            <a:spLocks noGrp="1"/>
          </p:cNvSpPr>
          <p:nvPr>
            <p:ph type="title"/>
          </p:nvPr>
        </p:nvSpPr>
        <p:spPr>
          <a:prstGeom prst="rect">
            <a:avLst/>
          </a:prstGeom>
        </p:spPr>
        <p:txBody>
          <a:bodyPr spcFirstLastPara="1" wrap="square" lIns="91425" tIns="91425" rIns="91425" bIns="91425" anchor="t" anchorCtr="0">
            <a:normAutofit fontScale="90000"/>
          </a:bodyPr>
          <a:lstStyle/>
          <a:p>
            <a:r>
              <a:rPr lang="en-US" b="1" dirty="0">
                <a:latin typeface="+mn-lt"/>
              </a:rPr>
              <a:t>TABLE OF CONTENTS</a:t>
            </a:r>
            <a:endParaRPr b="1" dirty="0">
              <a:latin typeface="+mn-lt"/>
            </a:endParaRPr>
          </a:p>
        </p:txBody>
      </p:sp>
      <p:sp>
        <p:nvSpPr>
          <p:cNvPr id="66" name="Google Shape;66;p15"/>
          <p:cNvSpPr txBox="1">
            <a:spLocks noGrp="1"/>
          </p:cNvSpPr>
          <p:nvPr>
            <p:ph type="body" idx="1"/>
          </p:nvPr>
        </p:nvSpPr>
        <p:spPr>
          <a:xfrm>
            <a:off x="311700" y="1152475"/>
            <a:ext cx="8520600" cy="3863700"/>
          </a:xfrm>
          <a:prstGeom prst="rect">
            <a:avLst/>
          </a:prstGeom>
        </p:spPr>
        <p:txBody>
          <a:bodyPr spcFirstLastPara="1" wrap="square" lIns="91425" tIns="91425" rIns="91425" bIns="91425" anchor="t" anchorCtr="0">
            <a:normAutofit/>
          </a:bodyPr>
          <a:lstStyle/>
          <a:p>
            <a:pPr>
              <a:buClr>
                <a:schemeClr val="dk1"/>
              </a:buClr>
            </a:pPr>
            <a:r>
              <a:rPr lang="en" dirty="0">
                <a:solidFill>
                  <a:schemeClr val="dk1"/>
                </a:solidFill>
              </a:rPr>
              <a:t>Introduction  </a:t>
            </a:r>
            <a:endParaRPr lang="en-US" dirty="0">
              <a:solidFill>
                <a:schemeClr val="dk1"/>
              </a:solidFill>
            </a:endParaRPr>
          </a:p>
          <a:p>
            <a:pPr marL="457200" lvl="0" indent="-342900" algn="l" rtl="0">
              <a:spcBef>
                <a:spcPts val="0"/>
              </a:spcBef>
              <a:spcAft>
                <a:spcPts val="0"/>
              </a:spcAft>
              <a:buClr>
                <a:schemeClr val="dk1"/>
              </a:buClr>
              <a:buSzPts val="1800"/>
              <a:buChar char="●"/>
            </a:pPr>
            <a:r>
              <a:rPr lang="en" dirty="0">
                <a:solidFill>
                  <a:schemeClr val="dk1"/>
                </a:solidFill>
              </a:rPr>
              <a:t>Objectives </a:t>
            </a:r>
            <a:endParaRPr dirty="0">
              <a:solidFill>
                <a:schemeClr val="dk1"/>
              </a:solidFill>
            </a:endParaRPr>
          </a:p>
          <a:p>
            <a:pPr>
              <a:buClr>
                <a:schemeClr val="dk1"/>
              </a:buClr>
            </a:pPr>
            <a:r>
              <a:rPr lang="en-US" dirty="0">
                <a:solidFill>
                  <a:schemeClr val="dk1"/>
                </a:solidFill>
              </a:rPr>
              <a:t>Dataset Overview </a:t>
            </a:r>
            <a:endParaRPr dirty="0">
              <a:solidFill>
                <a:schemeClr val="dk1"/>
              </a:solidFill>
            </a:endParaRPr>
          </a:p>
          <a:p>
            <a:pPr marL="457200" lvl="0" indent="-342900" algn="l" rtl="0">
              <a:spcBef>
                <a:spcPts val="0"/>
              </a:spcBef>
              <a:spcAft>
                <a:spcPts val="0"/>
              </a:spcAft>
              <a:buClr>
                <a:schemeClr val="dk1"/>
              </a:buClr>
              <a:buSzPts val="1800"/>
              <a:buChar char="●"/>
            </a:pPr>
            <a:r>
              <a:rPr lang="en" dirty="0">
                <a:solidFill>
                  <a:schemeClr val="dk1"/>
                </a:solidFill>
              </a:rPr>
              <a:t>Datasets</a:t>
            </a:r>
          </a:p>
          <a:p>
            <a:pPr>
              <a:buClr>
                <a:schemeClr val="dk1"/>
              </a:buClr>
            </a:pPr>
            <a:r>
              <a:rPr lang="en-US" dirty="0">
                <a:solidFill>
                  <a:schemeClr val="dk1"/>
                </a:solidFill>
              </a:rPr>
              <a:t>Criteria Used</a:t>
            </a:r>
          </a:p>
          <a:p>
            <a:pPr>
              <a:buClr>
                <a:srgbClr val="000000"/>
              </a:buClr>
            </a:pPr>
            <a:r>
              <a:rPr lang="en-US" dirty="0">
                <a:solidFill>
                  <a:schemeClr val="dk1"/>
                </a:solidFill>
              </a:rPr>
              <a:t>Dashboard</a:t>
            </a:r>
          </a:p>
          <a:p>
            <a:pPr>
              <a:buClr>
                <a:srgbClr val="000000"/>
              </a:buClr>
            </a:pPr>
            <a:r>
              <a:rPr lang="en-US" dirty="0">
                <a:solidFill>
                  <a:schemeClr val="dk1"/>
                </a:solidFill>
              </a:rPr>
              <a:t>Conclusion</a:t>
            </a:r>
          </a:p>
          <a:p>
            <a:pPr>
              <a:buClr>
                <a:srgbClr val="000000"/>
              </a:buClr>
            </a:pPr>
            <a:r>
              <a:rPr lang="en-US" dirty="0">
                <a:solidFill>
                  <a:schemeClr val="dk1"/>
                </a:solidFill>
              </a:rPr>
              <a:t>Future Scope</a:t>
            </a:r>
          </a:p>
          <a:p>
            <a:pPr>
              <a:buClr>
                <a:srgbClr val="000000"/>
              </a:buClr>
            </a:pPr>
            <a:r>
              <a:rPr lang="en-US" dirty="0">
                <a:solidFill>
                  <a:schemeClr val="dk1"/>
                </a:solidFill>
              </a:rPr>
              <a:t>References</a:t>
            </a:r>
          </a:p>
          <a:p>
            <a:pPr>
              <a:buClr>
                <a:srgbClr val="000000"/>
              </a:buClr>
            </a:pPr>
            <a:endParaRPr lang="en-US" dirty="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6"/>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just" rtl="0">
              <a:spcBef>
                <a:spcPts val="0"/>
              </a:spcBef>
              <a:spcAft>
                <a:spcPts val="0"/>
              </a:spcAft>
              <a:buNone/>
            </a:pPr>
            <a:r>
              <a:rPr lang="en" b="1" dirty="0">
                <a:latin typeface="+mn-lt"/>
              </a:rPr>
              <a:t>INTRODUCTION</a:t>
            </a:r>
            <a:endParaRPr b="1" dirty="0">
              <a:latin typeface="+mn-lt"/>
            </a:endParaRPr>
          </a:p>
        </p:txBody>
      </p:sp>
      <p:sp>
        <p:nvSpPr>
          <p:cNvPr id="72" name="Google Shape;72;p16"/>
          <p:cNvSpPr txBox="1">
            <a:spLocks noGrp="1"/>
          </p:cNvSpPr>
          <p:nvPr>
            <p:ph type="body" idx="1"/>
          </p:nvPr>
        </p:nvSpPr>
        <p:spPr>
          <a:xfrm>
            <a:off x="311700" y="1362829"/>
            <a:ext cx="8520600" cy="3416400"/>
          </a:xfrm>
          <a:prstGeom prst="rect">
            <a:avLst/>
          </a:prstGeom>
        </p:spPr>
        <p:txBody>
          <a:bodyPr spcFirstLastPara="1" wrap="square" lIns="91425" tIns="91425" rIns="91425" bIns="91425" anchor="t" anchorCtr="0">
            <a:normAutofit/>
          </a:bodyPr>
          <a:lstStyle/>
          <a:p>
            <a:pPr marL="342900" algn="just"/>
            <a:r>
              <a:rPr lang="en-US" sz="1600" dirty="0">
                <a:solidFill>
                  <a:schemeClr val="dk1"/>
                </a:solidFill>
                <a:ea typeface="+mn-lt"/>
                <a:cs typeface="+mn-lt"/>
              </a:rPr>
              <a:t>Sleep is a critical pillar of health, alongside diet and exercise — yet a large share of adults report poor sleep quality linked to lifestyle and occupational stress. </a:t>
            </a:r>
            <a:endParaRPr lang="en-US" sz="1600" dirty="0">
              <a:solidFill>
                <a:schemeClr val="dk1"/>
              </a:solidFill>
            </a:endParaRPr>
          </a:p>
          <a:p>
            <a:pPr marL="342900" algn="just"/>
            <a:endParaRPr lang="en-US" sz="1600" dirty="0">
              <a:solidFill>
                <a:schemeClr val="dk1"/>
              </a:solidFill>
            </a:endParaRPr>
          </a:p>
          <a:p>
            <a:pPr marL="342900" algn="just"/>
            <a:r>
              <a:rPr lang="en-US" sz="1600" dirty="0">
                <a:solidFill>
                  <a:schemeClr val="dk1"/>
                </a:solidFill>
                <a:ea typeface="+mn-lt"/>
                <a:cs typeface="+mn-lt"/>
              </a:rPr>
              <a:t>This project analyzes the Sleep Health and Lifestyle Dataset, which records sleep patterns, physical activity, stress levels, and cardiovascular indicators for 374 individuals across 11 occupations. </a:t>
            </a:r>
            <a:endParaRPr lang="en-US" sz="1600" dirty="0">
              <a:solidFill>
                <a:schemeClr val="dk1"/>
              </a:solidFill>
            </a:endParaRPr>
          </a:p>
          <a:p>
            <a:pPr marL="342900" algn="just"/>
            <a:endParaRPr lang="en-US" sz="1600" dirty="0">
              <a:solidFill>
                <a:schemeClr val="dk1"/>
              </a:solidFill>
            </a:endParaRPr>
          </a:p>
          <a:p>
            <a:pPr marL="342900" algn="just"/>
            <a:r>
              <a:rPr lang="en-US" sz="1600" dirty="0">
                <a:solidFill>
                  <a:schemeClr val="dk1"/>
                </a:solidFill>
                <a:ea typeface="+mn-lt"/>
                <a:cs typeface="+mn-lt"/>
              </a:rPr>
              <a:t>Poor sleep has been associated with conditions such as Insomnia and Sleep Apnea, and with elevated blood pressure and heart rate — making it valuable to examine how daily habits connect to these outcomes.</a:t>
            </a:r>
          </a:p>
          <a:p>
            <a:pPr marL="342900" algn="just"/>
            <a:endParaRPr lang="en-US" sz="1600" dirty="0">
              <a:solidFill>
                <a:schemeClr val="dk1"/>
              </a:solidFill>
              <a:ea typeface="+mn-lt"/>
              <a:cs typeface="+mn-lt"/>
            </a:endParaRPr>
          </a:p>
          <a:p>
            <a:pPr marL="342900" algn="just"/>
            <a:r>
              <a:rPr lang="en-US" sz="1600" dirty="0">
                <a:solidFill>
                  <a:schemeClr val="dk1"/>
                </a:solidFill>
                <a:ea typeface="+mn-lt"/>
                <a:cs typeface="+mn-lt"/>
              </a:rPr>
              <a:t>This report uses Power BI to explore those relationships, and to build an interactive dashboard summarizing the key patterns found in the data.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9"/>
          <p:cNvSpPr txBox="1">
            <a:spLocks noGrp="1"/>
          </p:cNvSpPr>
          <p:nvPr>
            <p:ph type="title"/>
          </p:nvPr>
        </p:nvSpPr>
        <p:spPr>
          <a:xfrm>
            <a:off x="304748" y="436009"/>
            <a:ext cx="8596239" cy="67176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latin typeface="+mn-lt"/>
              </a:rPr>
              <a:t>OBJECTIVE</a:t>
            </a:r>
            <a:endParaRPr b="1" dirty="0">
              <a:latin typeface="+mn-lt"/>
            </a:endParaRPr>
          </a:p>
        </p:txBody>
      </p:sp>
      <p:sp>
        <p:nvSpPr>
          <p:cNvPr id="90" name="Google Shape;90;p19"/>
          <p:cNvSpPr txBox="1">
            <a:spLocks noGrp="1"/>
          </p:cNvSpPr>
          <p:nvPr>
            <p:ph type="body" idx="1"/>
          </p:nvPr>
        </p:nvSpPr>
        <p:spPr>
          <a:xfrm>
            <a:off x="234426" y="1628994"/>
            <a:ext cx="8520600" cy="3416400"/>
          </a:xfrm>
          <a:prstGeom prst="rect">
            <a:avLst/>
          </a:prstGeom>
        </p:spPr>
        <p:txBody>
          <a:bodyPr spcFirstLastPara="1" wrap="square" lIns="91425" tIns="91425" rIns="91425" bIns="91425" anchor="t" anchorCtr="0">
            <a:normAutofit/>
          </a:bodyPr>
          <a:lstStyle/>
          <a:p>
            <a:pPr marL="114300" indent="0" algn="just">
              <a:buClr>
                <a:srgbClr val="000000"/>
              </a:buClr>
              <a:buNone/>
            </a:pPr>
            <a:r>
              <a:rPr lang="en-IN" dirty="0">
                <a:ea typeface="+mn-lt"/>
                <a:cs typeface="+mn-lt"/>
              </a:rPr>
              <a:t>To analyse the relationship between lifestyle factors — physical activity, stress, and occupation — and sleep health outcomes, and to build an interactive</a:t>
            </a:r>
          </a:p>
          <a:p>
            <a:pPr marL="114300" indent="0" algn="just">
              <a:buNone/>
            </a:pPr>
            <a:r>
              <a:rPr lang="en-IN" dirty="0">
                <a:ea typeface="+mn-lt"/>
                <a:cs typeface="+mn-lt"/>
              </a:rPr>
              <a:t>Power BI dashboard that highlights key patterns in sleep quality, sleep disorders, and cardiovascular health across the surveyed population.</a:t>
            </a:r>
            <a:endParaRPr lang="en-US">
              <a:ea typeface="+mn-lt"/>
              <a:cs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E1411-0DD7-463B-6164-47F7F7767AE8}"/>
              </a:ext>
            </a:extLst>
          </p:cNvPr>
          <p:cNvSpPr>
            <a:spLocks noGrp="1"/>
          </p:cNvSpPr>
          <p:nvPr>
            <p:ph type="title"/>
          </p:nvPr>
        </p:nvSpPr>
        <p:spPr>
          <a:xfrm>
            <a:off x="965199" y="457200"/>
            <a:ext cx="7648121" cy="824592"/>
          </a:xfrm>
        </p:spPr>
        <p:txBody>
          <a:bodyPr vert="horz" lIns="91440" tIns="45720" rIns="91440" bIns="45720" rtlCol="0">
            <a:normAutofit/>
          </a:bodyPr>
          <a:lstStyle/>
          <a:p>
            <a:pPr>
              <a:spcBef>
                <a:spcPct val="0"/>
              </a:spcBef>
            </a:pPr>
            <a:r>
              <a:rPr lang="en-US"/>
              <a:t>DATASET OVERVIEW</a:t>
            </a:r>
          </a:p>
        </p:txBody>
      </p:sp>
      <p:graphicFrame>
        <p:nvGraphicFramePr>
          <p:cNvPr id="5" name="Text Placeholder 2">
            <a:extLst>
              <a:ext uri="{FF2B5EF4-FFF2-40B4-BE49-F238E27FC236}">
                <a16:creationId xmlns:a16="http://schemas.microsoft.com/office/drawing/2014/main" id="{C01CF73D-7523-6D38-C7B1-EBB10749CE4E}"/>
              </a:ext>
            </a:extLst>
          </p:cNvPr>
          <p:cNvGraphicFramePr/>
          <p:nvPr>
            <p:extLst>
              <p:ext uri="{D42A27DB-BD31-4B8C-83A1-F6EECF244321}">
                <p14:modId xmlns:p14="http://schemas.microsoft.com/office/powerpoint/2010/main" val="625403172"/>
              </p:ext>
            </p:extLst>
          </p:nvPr>
        </p:nvGraphicFramePr>
        <p:xfrm>
          <a:off x="965199" y="1461407"/>
          <a:ext cx="7213600" cy="30701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213237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AA7C9-546A-02D1-C74B-9030740D2EA2}"/>
              </a:ext>
            </a:extLst>
          </p:cNvPr>
          <p:cNvSpPr>
            <a:spLocks noGrp="1"/>
          </p:cNvSpPr>
          <p:nvPr>
            <p:ph type="title"/>
          </p:nvPr>
        </p:nvSpPr>
        <p:spPr>
          <a:xfrm>
            <a:off x="264274" y="457200"/>
            <a:ext cx="6699632" cy="990600"/>
          </a:xfrm>
        </p:spPr>
        <p:txBody>
          <a:bodyPr>
            <a:normAutofit/>
          </a:bodyPr>
          <a:lstStyle/>
          <a:p>
            <a:r>
              <a:rPr lang="en-US" sz="3200" dirty="0"/>
              <a:t>DATASET</a:t>
            </a:r>
            <a:br>
              <a:rPr lang="en-US" sz="3200" dirty="0"/>
            </a:br>
            <a:r>
              <a:rPr lang="en-US" sz="1600" dirty="0">
                <a:solidFill>
                  <a:schemeClr val="accent2">
                    <a:lumMod val="76000"/>
                  </a:schemeClr>
                </a:solidFill>
                <a:ea typeface="+mj-lt"/>
                <a:cs typeface="+mj-lt"/>
              </a:rPr>
              <a:t>Sleep Performance Metrix</a:t>
            </a:r>
            <a:endParaRPr lang="en-US" sz="1600">
              <a:solidFill>
                <a:schemeClr val="accent2">
                  <a:lumMod val="76000"/>
                </a:schemeClr>
              </a:solidFill>
            </a:endParaRPr>
          </a:p>
          <a:p>
            <a:endParaRPr lang="en-US" dirty="0"/>
          </a:p>
        </p:txBody>
      </p:sp>
      <p:pic>
        <p:nvPicPr>
          <p:cNvPr id="5" name="Content Placeholder 4">
            <a:extLst>
              <a:ext uri="{FF2B5EF4-FFF2-40B4-BE49-F238E27FC236}">
                <a16:creationId xmlns:a16="http://schemas.microsoft.com/office/drawing/2014/main" id="{F12B9DA9-A194-B953-3099-FBA5E75521E4}"/>
              </a:ext>
            </a:extLst>
          </p:cNvPr>
          <p:cNvPicPr>
            <a:picLocks noGrp="1" noChangeAspect="1"/>
          </p:cNvPicPr>
          <p:nvPr>
            <p:ph idx="1"/>
          </p:nvPr>
        </p:nvPicPr>
        <p:blipFill>
          <a:blip r:embed="rId2"/>
          <a:stretch>
            <a:fillRect/>
          </a:stretch>
        </p:blipFill>
        <p:spPr>
          <a:xfrm>
            <a:off x="267624" y="1443950"/>
            <a:ext cx="6709741" cy="3255160"/>
          </a:xfrm>
          <a:prstGeom prst="rect">
            <a:avLst/>
          </a:prstGeom>
        </p:spPr>
      </p:pic>
    </p:spTree>
    <p:extLst>
      <p:ext uri="{BB962C8B-B14F-4D97-AF65-F5344CB8AC3E}">
        <p14:creationId xmlns:p14="http://schemas.microsoft.com/office/powerpoint/2010/main" val="37465247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494BC-20D3-8E44-94D1-086F06C42C2F}"/>
              </a:ext>
            </a:extLst>
          </p:cNvPr>
          <p:cNvSpPr>
            <a:spLocks noGrp="1"/>
          </p:cNvSpPr>
          <p:nvPr>
            <p:ph type="title"/>
          </p:nvPr>
        </p:nvSpPr>
        <p:spPr>
          <a:xfrm>
            <a:off x="264273" y="305920"/>
            <a:ext cx="6447501" cy="797300"/>
          </a:xfrm>
        </p:spPr>
        <p:txBody>
          <a:bodyPr>
            <a:normAutofit fontScale="90000"/>
          </a:bodyPr>
          <a:lstStyle/>
          <a:p>
            <a:r>
              <a:rPr lang="en-US" sz="3200" dirty="0">
                <a:ea typeface="+mj-lt"/>
                <a:cs typeface="+mj-lt"/>
              </a:rPr>
              <a:t>DATASET</a:t>
            </a:r>
            <a:br>
              <a:rPr lang="en-US" sz="3200" dirty="0">
                <a:ea typeface="+mj-lt"/>
                <a:cs typeface="+mj-lt"/>
              </a:rPr>
            </a:br>
            <a:r>
              <a:rPr lang="en-US" sz="1600" dirty="0">
                <a:solidFill>
                  <a:schemeClr val="accent2">
                    <a:lumMod val="76000"/>
                  </a:schemeClr>
                </a:solidFill>
                <a:ea typeface="+mj-lt"/>
                <a:cs typeface="+mj-lt"/>
              </a:rPr>
              <a:t>Daily Lifestyle &amp; Behaviors</a:t>
            </a:r>
            <a:br>
              <a:rPr lang="en-US" sz="3200" dirty="0">
                <a:ea typeface="+mj-lt"/>
                <a:cs typeface="+mj-lt"/>
              </a:rPr>
            </a:br>
            <a:br>
              <a:rPr lang="en-US" sz="3200" dirty="0">
                <a:ea typeface="+mj-lt"/>
                <a:cs typeface="+mj-lt"/>
              </a:rPr>
            </a:br>
            <a:endParaRPr lang="en-US" sz="3200" dirty="0"/>
          </a:p>
        </p:txBody>
      </p:sp>
      <p:pic>
        <p:nvPicPr>
          <p:cNvPr id="4" name="Content Placeholder 3" descr="A table of numbers with numbers on it&#10;&#10;AI-generated content may be incorrect.">
            <a:extLst>
              <a:ext uri="{FF2B5EF4-FFF2-40B4-BE49-F238E27FC236}">
                <a16:creationId xmlns:a16="http://schemas.microsoft.com/office/drawing/2014/main" id="{DD7FB607-AE92-74CA-A3E4-2017645AE3BD}"/>
              </a:ext>
            </a:extLst>
          </p:cNvPr>
          <p:cNvPicPr>
            <a:picLocks noGrp="1" noChangeAspect="1"/>
          </p:cNvPicPr>
          <p:nvPr>
            <p:ph idx="1"/>
          </p:nvPr>
        </p:nvPicPr>
        <p:blipFill>
          <a:blip r:embed="rId2"/>
          <a:stretch>
            <a:fillRect/>
          </a:stretch>
        </p:blipFill>
        <p:spPr>
          <a:xfrm>
            <a:off x="380737" y="1107773"/>
            <a:ext cx="4911889" cy="3835064"/>
          </a:xfrm>
          <a:prstGeom prst="rect">
            <a:avLst/>
          </a:prstGeom>
        </p:spPr>
      </p:pic>
    </p:spTree>
    <p:extLst>
      <p:ext uri="{BB962C8B-B14F-4D97-AF65-F5344CB8AC3E}">
        <p14:creationId xmlns:p14="http://schemas.microsoft.com/office/powerpoint/2010/main" val="8991191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A8588-ABDF-7275-2615-8329B67AD852}"/>
              </a:ext>
            </a:extLst>
          </p:cNvPr>
          <p:cNvSpPr>
            <a:spLocks noGrp="1"/>
          </p:cNvSpPr>
          <p:nvPr>
            <p:ph type="title"/>
          </p:nvPr>
        </p:nvSpPr>
        <p:spPr>
          <a:xfrm>
            <a:off x="348318" y="457200"/>
            <a:ext cx="6607184" cy="990600"/>
          </a:xfrm>
        </p:spPr>
        <p:txBody>
          <a:bodyPr>
            <a:normAutofit/>
          </a:bodyPr>
          <a:lstStyle/>
          <a:p>
            <a:r>
              <a:rPr lang="en-US" sz="3200" dirty="0"/>
              <a:t>DATASET</a:t>
            </a:r>
            <a:br>
              <a:rPr lang="en-US" dirty="0"/>
            </a:br>
            <a:r>
              <a:rPr lang="en-US" sz="1600" dirty="0">
                <a:solidFill>
                  <a:schemeClr val="accent2">
                    <a:lumMod val="76000"/>
                  </a:schemeClr>
                </a:solidFill>
                <a:ea typeface="+mj-lt"/>
                <a:cs typeface="+mj-lt"/>
              </a:rPr>
              <a:t>Cardiovascular &amp; Physical Health</a:t>
            </a:r>
            <a:endParaRPr lang="en-US" sz="1600" dirty="0">
              <a:solidFill>
                <a:schemeClr val="accent2">
                  <a:lumMod val="76000"/>
                </a:schemeClr>
              </a:solidFill>
            </a:endParaRPr>
          </a:p>
        </p:txBody>
      </p:sp>
      <p:pic>
        <p:nvPicPr>
          <p:cNvPr id="4" name="Content Placeholder 3" descr="A screenshot of a data&#10;&#10;AI-generated content may be incorrect.">
            <a:extLst>
              <a:ext uri="{FF2B5EF4-FFF2-40B4-BE49-F238E27FC236}">
                <a16:creationId xmlns:a16="http://schemas.microsoft.com/office/drawing/2014/main" id="{C0B852F1-2D0D-DCBE-A168-CF2D79652288}"/>
              </a:ext>
            </a:extLst>
          </p:cNvPr>
          <p:cNvPicPr>
            <a:picLocks noGrp="1" noChangeAspect="1"/>
          </p:cNvPicPr>
          <p:nvPr>
            <p:ph idx="1"/>
          </p:nvPr>
        </p:nvPicPr>
        <p:blipFill>
          <a:blip r:embed="rId2"/>
          <a:stretch>
            <a:fillRect/>
          </a:stretch>
        </p:blipFill>
        <p:spPr>
          <a:xfrm>
            <a:off x="349332" y="1359905"/>
            <a:ext cx="5563010" cy="3490484"/>
          </a:xfrm>
          <a:prstGeom prst="rect">
            <a:avLst/>
          </a:prstGeom>
        </p:spPr>
      </p:pic>
    </p:spTree>
    <p:extLst>
      <p:ext uri="{BB962C8B-B14F-4D97-AF65-F5344CB8AC3E}">
        <p14:creationId xmlns:p14="http://schemas.microsoft.com/office/powerpoint/2010/main" val="17852148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6"/>
          <p:cNvSpPr txBox="1">
            <a:spLocks noGrp="1"/>
          </p:cNvSpPr>
          <p:nvPr>
            <p:ph type="title"/>
          </p:nvPr>
        </p:nvSpPr>
        <p:spPr>
          <a:xfrm>
            <a:off x="376092" y="92040"/>
            <a:ext cx="8456207" cy="572700"/>
          </a:xfrm>
          <a:prstGeom prst="rect">
            <a:avLst/>
          </a:prstGeom>
        </p:spPr>
        <p:txBody>
          <a:bodyPr spcFirstLastPara="1" wrap="square" lIns="91425" tIns="91425" rIns="91425" bIns="91425" anchor="t" anchorCtr="0">
            <a:normAutofit fontScale="90000"/>
          </a:bodyPr>
          <a:lstStyle/>
          <a:p>
            <a:r>
              <a:rPr lang="en" dirty="0">
                <a:ea typeface="+mj-lt"/>
                <a:cs typeface="+mj-lt"/>
              </a:rPr>
              <a:t>KEY DETAILS</a:t>
            </a:r>
            <a:br>
              <a:rPr lang="en" dirty="0">
                <a:ea typeface="+mj-lt"/>
                <a:cs typeface="+mj-lt"/>
              </a:rPr>
            </a:br>
            <a:r>
              <a:rPr lang="en" sz="1800" dirty="0">
                <a:solidFill>
                  <a:schemeClr val="accent2">
                    <a:lumMod val="76000"/>
                  </a:schemeClr>
                </a:solidFill>
                <a:ea typeface="+mj-lt"/>
                <a:cs typeface="+mj-lt"/>
              </a:rPr>
              <a:t>Sleep Performance Overview</a:t>
            </a:r>
            <a:br>
              <a:rPr lang="en" sz="1600" dirty="0">
                <a:solidFill>
                  <a:schemeClr val="accent2">
                    <a:lumMod val="76000"/>
                  </a:schemeClr>
                </a:solidFill>
                <a:ea typeface="+mj-lt"/>
                <a:cs typeface="+mj-lt"/>
              </a:rPr>
            </a:br>
            <a:endParaRPr lang="en-US" dirty="0"/>
          </a:p>
        </p:txBody>
      </p:sp>
      <p:sp>
        <p:nvSpPr>
          <p:cNvPr id="5" name="TextBox 4">
            <a:extLst>
              <a:ext uri="{FF2B5EF4-FFF2-40B4-BE49-F238E27FC236}">
                <a16:creationId xmlns:a16="http://schemas.microsoft.com/office/drawing/2014/main" id="{3C4B58B4-32B3-D397-4282-513FD2065087}"/>
              </a:ext>
            </a:extLst>
          </p:cNvPr>
          <p:cNvSpPr txBox="1"/>
          <p:nvPr/>
        </p:nvSpPr>
        <p:spPr>
          <a:xfrm>
            <a:off x="376094" y="1017725"/>
            <a:ext cx="8456206" cy="4031873"/>
          </a:xfrm>
          <a:prstGeom prst="rect">
            <a:avLst/>
          </a:prstGeom>
          <a:noFill/>
        </p:spPr>
        <p:txBody>
          <a:bodyPr wrap="square" lIns="91440" tIns="45720" rIns="91440" bIns="45720" anchor="t">
            <a:spAutoFit/>
          </a:bodyPr>
          <a:lstStyle/>
          <a:p>
            <a:pPr marL="342900" indent="-342900" algn="just">
              <a:buFont typeface="Wingdings"/>
              <a:buChar char="Ø"/>
            </a:pPr>
            <a:r>
              <a:rPr lang="en-IN" sz="1600" b="1" dirty="0"/>
              <a:t>Person ID &amp; Participant Count:</a:t>
            </a:r>
            <a:r>
              <a:rPr lang="en-IN" sz="1600" dirty="0"/>
              <a:t> Covers </a:t>
            </a:r>
            <a:r>
              <a:rPr lang="en-IN" sz="1600" b="1" dirty="0"/>
              <a:t>374 total respondents</a:t>
            </a:r>
            <a:r>
              <a:rPr lang="en-IN" sz="1600" dirty="0"/>
              <a:t>, assigned unique numeric identifiers from 1 to 374</a:t>
            </a:r>
            <a:endParaRPr lang="en-US" sz="1600"/>
          </a:p>
          <a:p>
            <a:pPr algn="just"/>
            <a:r>
              <a:rPr lang="en-IN" sz="1600" dirty="0"/>
              <a:t>           </a:t>
            </a:r>
            <a:endParaRPr lang="en-US"/>
          </a:p>
          <a:p>
            <a:pPr marL="342900" indent="-342900" algn="just">
              <a:buFont typeface="Wingdings" panose="020B0604020202020204" pitchFamily="34" charset="0"/>
              <a:buChar char="Ø"/>
            </a:pPr>
            <a:r>
              <a:rPr lang="en-IN" sz="1600" b="1" dirty="0">
                <a:ea typeface="+mn-lt"/>
                <a:cs typeface="+mn-lt"/>
              </a:rPr>
              <a:t>Age Range:</a:t>
            </a:r>
            <a:r>
              <a:rPr lang="en-IN" sz="1600" dirty="0">
                <a:ea typeface="+mn-lt"/>
                <a:cs typeface="+mn-lt"/>
              </a:rPr>
              <a:t> Participants range from </a:t>
            </a:r>
            <a:r>
              <a:rPr lang="en-IN" sz="1600" b="1" dirty="0">
                <a:ea typeface="+mn-lt"/>
                <a:cs typeface="+mn-lt"/>
              </a:rPr>
              <a:t>27 to 59 years old.</a:t>
            </a:r>
            <a:endParaRPr lang="en-IN" sz="1600" dirty="0"/>
          </a:p>
          <a:p>
            <a:pPr algn="just">
              <a:buNone/>
            </a:pPr>
            <a:endParaRPr lang="en-IN" sz="1600" dirty="0"/>
          </a:p>
          <a:p>
            <a:pPr marL="342900" indent="-342900" algn="just">
              <a:buFont typeface="Wingdings" panose="020B0604020202020204" pitchFamily="34" charset="0"/>
              <a:buChar char="Ø"/>
            </a:pPr>
            <a:r>
              <a:rPr lang="en-IN" sz="1600" b="1" dirty="0">
                <a:ea typeface="+mn-lt"/>
                <a:cs typeface="+mn-lt"/>
              </a:rPr>
              <a:t>Occupational Background:</a:t>
            </a:r>
            <a:r>
              <a:rPr lang="en-IN" sz="1600" dirty="0">
                <a:ea typeface="+mn-lt"/>
                <a:cs typeface="+mn-lt"/>
              </a:rPr>
              <a:t> Spans </a:t>
            </a:r>
            <a:r>
              <a:rPr lang="en-IN" sz="1600" b="1" dirty="0">
                <a:ea typeface="+mn-lt"/>
                <a:cs typeface="+mn-lt"/>
              </a:rPr>
              <a:t>11 distinct professions</a:t>
            </a:r>
            <a:r>
              <a:rPr lang="en-IN" sz="1600" dirty="0">
                <a:ea typeface="+mn-lt"/>
                <a:cs typeface="+mn-lt"/>
              </a:rPr>
              <a:t>, led by Nurses (73), Doctors (71), Engineers (63), and Lawyers (47).</a:t>
            </a:r>
          </a:p>
          <a:p>
            <a:pPr marL="342900" indent="-342900" algn="just">
              <a:buFont typeface="Wingdings" panose="020B0604020202020204" pitchFamily="34" charset="0"/>
              <a:buChar char="Ø"/>
            </a:pPr>
            <a:endParaRPr lang="en-IN" sz="1600" dirty="0">
              <a:ea typeface="+mn-lt"/>
              <a:cs typeface="+mn-lt"/>
            </a:endParaRPr>
          </a:p>
          <a:p>
            <a:pPr marL="342900" indent="-342900" algn="just">
              <a:buFont typeface="Wingdings" panose="020B0604020202020204" pitchFamily="34" charset="0"/>
              <a:buChar char="Ø"/>
            </a:pPr>
            <a:r>
              <a:rPr lang="en-IN" sz="1600" b="1" dirty="0">
                <a:ea typeface="+mn-lt"/>
                <a:cs typeface="+mn-lt"/>
              </a:rPr>
              <a:t>Sleep Duration:</a:t>
            </a:r>
            <a:r>
              <a:rPr lang="en-IN" sz="1600" dirty="0">
                <a:ea typeface="+mn-lt"/>
                <a:cs typeface="+mn-lt"/>
              </a:rPr>
              <a:t> Daily sleep ranges from </a:t>
            </a:r>
            <a:r>
              <a:rPr lang="en-IN" sz="1600" b="1" dirty="0">
                <a:ea typeface="+mn-lt"/>
                <a:cs typeface="+mn-lt"/>
              </a:rPr>
              <a:t>5.8 to 8.5 hours</a:t>
            </a:r>
            <a:r>
              <a:rPr lang="en-IN" sz="1600" dirty="0">
                <a:ea typeface="+mn-lt"/>
                <a:cs typeface="+mn-lt"/>
              </a:rPr>
              <a:t>, averaging </a:t>
            </a:r>
            <a:r>
              <a:rPr lang="en-IN" sz="1600" b="1" dirty="0">
                <a:ea typeface="+mn-lt"/>
                <a:cs typeface="+mn-lt"/>
              </a:rPr>
              <a:t>7.13 hours per day</a:t>
            </a:r>
            <a:r>
              <a:rPr lang="en-IN" sz="1600" dirty="0">
                <a:ea typeface="+mn-lt"/>
                <a:cs typeface="+mn-lt"/>
              </a:rPr>
              <a:t> across the sample.</a:t>
            </a:r>
          </a:p>
          <a:p>
            <a:pPr marL="342900" indent="-342900" algn="just">
              <a:buFont typeface="Wingdings" panose="020B0604020202020204" pitchFamily="34" charset="0"/>
              <a:buChar char="Ø"/>
            </a:pPr>
            <a:endParaRPr lang="en-IN" sz="1600" dirty="0">
              <a:ea typeface="+mn-lt"/>
              <a:cs typeface="+mn-lt"/>
            </a:endParaRPr>
          </a:p>
          <a:p>
            <a:pPr marL="342900" indent="-342900" algn="just">
              <a:buFont typeface="Wingdings" panose="020B0604020202020204" pitchFamily="34" charset="0"/>
              <a:buChar char="Ø"/>
            </a:pPr>
            <a:r>
              <a:rPr lang="en-IN" sz="1600" b="1" dirty="0">
                <a:ea typeface="+mn-lt"/>
                <a:cs typeface="+mn-lt"/>
              </a:rPr>
              <a:t>Quality of Sleep:</a:t>
            </a:r>
            <a:r>
              <a:rPr lang="en-IN" sz="1600" dirty="0">
                <a:ea typeface="+mn-lt"/>
                <a:cs typeface="+mn-lt"/>
              </a:rPr>
              <a:t> Subjective quality ratings on a 1–10 scale range from </a:t>
            </a:r>
            <a:r>
              <a:rPr lang="en-IN" sz="1600" b="1" dirty="0">
                <a:ea typeface="+mn-lt"/>
                <a:cs typeface="+mn-lt"/>
              </a:rPr>
              <a:t>4 to 9</a:t>
            </a:r>
            <a:r>
              <a:rPr lang="en-IN" sz="1600" dirty="0">
                <a:ea typeface="+mn-lt"/>
                <a:cs typeface="+mn-lt"/>
              </a:rPr>
              <a:t>, with a mean rating of </a:t>
            </a:r>
            <a:r>
              <a:rPr lang="en-IN" sz="1600" b="1" dirty="0">
                <a:ea typeface="+mn-lt"/>
                <a:cs typeface="+mn-lt"/>
              </a:rPr>
              <a:t>7.31/10</a:t>
            </a:r>
            <a:r>
              <a:rPr lang="en-IN" sz="1600" dirty="0">
                <a:ea typeface="+mn-lt"/>
                <a:cs typeface="+mn-lt"/>
              </a:rPr>
              <a:t>.</a:t>
            </a:r>
          </a:p>
          <a:p>
            <a:pPr marL="342900" indent="-342900" algn="just">
              <a:buFont typeface="Wingdings" panose="020B0604020202020204" pitchFamily="34" charset="0"/>
              <a:buChar char="Ø"/>
            </a:pPr>
            <a:endParaRPr lang="en-IN" sz="1600" dirty="0">
              <a:ea typeface="+mn-lt"/>
              <a:cs typeface="+mn-lt"/>
            </a:endParaRPr>
          </a:p>
          <a:p>
            <a:pPr marL="342900" indent="-342900" algn="just">
              <a:buFont typeface="Wingdings" panose="020B0604020202020204" pitchFamily="34" charset="0"/>
              <a:buChar char="Ø"/>
            </a:pPr>
            <a:r>
              <a:rPr lang="en-IN" sz="1600" b="1" dirty="0">
                <a:ea typeface="+mn-lt"/>
                <a:cs typeface="+mn-lt"/>
              </a:rPr>
              <a:t>Sleep Disorder:</a:t>
            </a:r>
            <a:r>
              <a:rPr lang="en-IN" sz="1600" dirty="0">
                <a:ea typeface="+mn-lt"/>
                <a:cs typeface="+mn-lt"/>
              </a:rPr>
              <a:t> Categorizes participants into </a:t>
            </a:r>
            <a:r>
              <a:rPr lang="en-IN" sz="1600" b="1" dirty="0">
                <a:ea typeface="+mn-lt"/>
                <a:cs typeface="+mn-lt"/>
              </a:rPr>
              <a:t>None (219 people | 58.6%)</a:t>
            </a:r>
            <a:r>
              <a:rPr lang="en-IN" sz="1600" dirty="0">
                <a:ea typeface="+mn-lt"/>
                <a:cs typeface="+mn-lt"/>
              </a:rPr>
              <a:t>, </a:t>
            </a:r>
            <a:r>
              <a:rPr lang="en-IN" sz="1600" b="1" dirty="0">
                <a:ea typeface="+mn-lt"/>
                <a:cs typeface="+mn-lt"/>
              </a:rPr>
              <a:t>Sleep </a:t>
            </a:r>
            <a:r>
              <a:rPr lang="en-IN" sz="1600" b="1" dirty="0" err="1">
                <a:ea typeface="+mn-lt"/>
                <a:cs typeface="+mn-lt"/>
              </a:rPr>
              <a:t>Apnea</a:t>
            </a:r>
            <a:r>
              <a:rPr lang="en-IN" sz="1600" b="1" dirty="0">
                <a:ea typeface="+mn-lt"/>
                <a:cs typeface="+mn-lt"/>
              </a:rPr>
              <a:t> (78 people | 20.9%)</a:t>
            </a:r>
            <a:r>
              <a:rPr lang="en-IN" sz="1600" dirty="0">
                <a:ea typeface="+mn-lt"/>
                <a:cs typeface="+mn-lt"/>
              </a:rPr>
              <a:t>, and </a:t>
            </a:r>
            <a:r>
              <a:rPr lang="en-IN" sz="1600" b="1" dirty="0">
                <a:ea typeface="+mn-lt"/>
                <a:cs typeface="+mn-lt"/>
              </a:rPr>
              <a:t>Insomnia (77 people | 20.6%)</a:t>
            </a:r>
            <a:r>
              <a:rPr lang="en-IN" sz="1600" dirty="0">
                <a:ea typeface="+mn-lt"/>
                <a:cs typeface="+mn-lt"/>
              </a:rPr>
              <a:t>. </a:t>
            </a:r>
            <a:endParaRPr lang="en-IN"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9EAFB0D4-ED04-DC19-E3C2-9BC1B1A18E7A}"/>
            </a:ext>
          </a:extLst>
        </p:cNvPr>
        <p:cNvGrpSpPr/>
        <p:nvPr/>
      </p:nvGrpSpPr>
      <p:grpSpPr>
        <a:xfrm>
          <a:off x="0" y="0"/>
          <a:ext cx="0" cy="0"/>
          <a:chOff x="0" y="0"/>
          <a:chExt cx="0" cy="0"/>
        </a:xfrm>
      </p:grpSpPr>
      <p:sp>
        <p:nvSpPr>
          <p:cNvPr id="135" name="Google Shape;135;p26">
            <a:extLst>
              <a:ext uri="{FF2B5EF4-FFF2-40B4-BE49-F238E27FC236}">
                <a16:creationId xmlns:a16="http://schemas.microsoft.com/office/drawing/2014/main" id="{1A2391B6-E2B1-687A-623A-CEE0204FC1A1}"/>
              </a:ext>
            </a:extLst>
          </p:cNvPr>
          <p:cNvSpPr txBox="1">
            <a:spLocks noGrp="1"/>
          </p:cNvSpPr>
          <p:nvPr>
            <p:ph type="title"/>
          </p:nvPr>
        </p:nvSpPr>
        <p:spPr>
          <a:xfrm>
            <a:off x="342474" y="487048"/>
            <a:ext cx="8456207" cy="572700"/>
          </a:xfrm>
          <a:prstGeom prst="rect">
            <a:avLst/>
          </a:prstGeom>
        </p:spPr>
        <p:txBody>
          <a:bodyPr spcFirstLastPara="1" wrap="square" lIns="91425" tIns="91425" rIns="91425" bIns="91425" anchor="t" anchorCtr="0">
            <a:normAutofit fontScale="90000"/>
          </a:bodyPr>
          <a:lstStyle/>
          <a:p>
            <a:r>
              <a:rPr lang="en" dirty="0">
                <a:ea typeface="+mj-lt"/>
                <a:cs typeface="+mj-lt"/>
              </a:rPr>
              <a:t>KEY DETAILS</a:t>
            </a:r>
            <a:br>
              <a:rPr lang="en" dirty="0">
                <a:ea typeface="+mj-lt"/>
                <a:cs typeface="+mj-lt"/>
              </a:rPr>
            </a:br>
            <a:r>
              <a:rPr lang="en" sz="1800" dirty="0">
                <a:solidFill>
                  <a:schemeClr val="accent2">
                    <a:lumMod val="76000"/>
                  </a:schemeClr>
                </a:solidFill>
              </a:rPr>
              <a:t>Daily Lifestyle &amp; Behaviors Details</a:t>
            </a:r>
            <a:endParaRPr lang="en-US" sz="1800" dirty="0">
              <a:solidFill>
                <a:schemeClr val="accent2">
                  <a:lumMod val="76000"/>
                </a:schemeClr>
              </a:solidFill>
            </a:endParaRPr>
          </a:p>
        </p:txBody>
      </p:sp>
      <p:sp>
        <p:nvSpPr>
          <p:cNvPr id="5" name="TextBox 4">
            <a:extLst>
              <a:ext uri="{FF2B5EF4-FFF2-40B4-BE49-F238E27FC236}">
                <a16:creationId xmlns:a16="http://schemas.microsoft.com/office/drawing/2014/main" id="{2FEBB83F-AC9B-A87B-6FC3-7EDCA9F74694}"/>
              </a:ext>
            </a:extLst>
          </p:cNvPr>
          <p:cNvSpPr txBox="1"/>
          <p:nvPr/>
        </p:nvSpPr>
        <p:spPr>
          <a:xfrm>
            <a:off x="342476" y="1639651"/>
            <a:ext cx="8456206" cy="2554545"/>
          </a:xfrm>
          <a:prstGeom prst="rect">
            <a:avLst/>
          </a:prstGeom>
          <a:noFill/>
        </p:spPr>
        <p:txBody>
          <a:bodyPr wrap="square" lIns="91440" tIns="45720" rIns="91440" bIns="45720" anchor="t">
            <a:spAutoFit/>
          </a:bodyPr>
          <a:lstStyle/>
          <a:p>
            <a:pPr marL="342900" indent="-342900" algn="just">
              <a:buFont typeface="Wingdings"/>
              <a:buChar char="Ø"/>
            </a:pPr>
            <a:r>
              <a:rPr lang="en-IN" b="1" dirty="0">
                <a:ea typeface="+mn-lt"/>
                <a:cs typeface="+mn-lt"/>
              </a:rPr>
              <a:t>Physical Activity Level:</a:t>
            </a:r>
            <a:r>
              <a:rPr lang="en-IN" dirty="0">
                <a:ea typeface="+mn-lt"/>
                <a:cs typeface="+mn-lt"/>
              </a:rPr>
              <a:t> Ranges from </a:t>
            </a:r>
            <a:r>
              <a:rPr lang="en-IN" b="1" dirty="0">
                <a:ea typeface="+mn-lt"/>
                <a:cs typeface="+mn-lt"/>
              </a:rPr>
              <a:t>30 to 90 minutes per day</a:t>
            </a:r>
            <a:r>
              <a:rPr lang="en-IN" dirty="0">
                <a:ea typeface="+mn-lt"/>
                <a:cs typeface="+mn-lt"/>
              </a:rPr>
              <a:t>, with an average of </a:t>
            </a:r>
            <a:r>
              <a:rPr lang="en-IN" b="1" dirty="0">
                <a:ea typeface="+mn-lt"/>
                <a:cs typeface="+mn-lt"/>
              </a:rPr>
              <a:t>59.2 minutes</a:t>
            </a:r>
            <a:r>
              <a:rPr lang="en-IN" dirty="0">
                <a:ea typeface="+mn-lt"/>
                <a:cs typeface="+mn-lt"/>
              </a:rPr>
              <a:t>. </a:t>
            </a:r>
            <a:endParaRPr lang="en-US" dirty="0"/>
          </a:p>
          <a:p>
            <a:pPr algn="just"/>
            <a:r>
              <a:rPr lang="en-IN" dirty="0"/>
              <a:t>           </a:t>
            </a:r>
            <a:endParaRPr lang="en-US"/>
          </a:p>
          <a:p>
            <a:pPr marL="342900" indent="-342900" algn="just">
              <a:buFont typeface="Wingdings" panose="020B0604020202020204" pitchFamily="34" charset="0"/>
              <a:buChar char="Ø"/>
            </a:pPr>
            <a:r>
              <a:rPr lang="en-IN" b="1" dirty="0">
                <a:ea typeface="+mn-lt"/>
                <a:cs typeface="+mn-lt"/>
              </a:rPr>
              <a:t>Daily Steps:</a:t>
            </a:r>
            <a:r>
              <a:rPr lang="en-IN" dirty="0">
                <a:ea typeface="+mn-lt"/>
                <a:cs typeface="+mn-lt"/>
              </a:rPr>
              <a:t> Varies between </a:t>
            </a:r>
            <a:r>
              <a:rPr lang="en-IN" b="1" dirty="0">
                <a:ea typeface="+mn-lt"/>
                <a:cs typeface="+mn-lt"/>
              </a:rPr>
              <a:t>3,000 and 10,000 steps per day</a:t>
            </a:r>
            <a:r>
              <a:rPr lang="en-IN" dirty="0">
                <a:ea typeface="+mn-lt"/>
                <a:cs typeface="+mn-lt"/>
              </a:rPr>
              <a:t>, averaging </a:t>
            </a:r>
            <a:r>
              <a:rPr lang="en-IN" b="1" dirty="0">
                <a:ea typeface="+mn-lt"/>
                <a:cs typeface="+mn-lt"/>
              </a:rPr>
              <a:t>6,817 steps</a:t>
            </a:r>
            <a:r>
              <a:rPr lang="en-IN" dirty="0">
                <a:ea typeface="+mn-lt"/>
                <a:cs typeface="+mn-lt"/>
              </a:rPr>
              <a:t>. </a:t>
            </a:r>
            <a:endParaRPr lang="en-IN" dirty="0"/>
          </a:p>
          <a:p>
            <a:pPr algn="just">
              <a:buNone/>
            </a:pPr>
            <a:endParaRPr lang="en-IN" dirty="0"/>
          </a:p>
          <a:p>
            <a:pPr marL="342900" indent="-342900" algn="just">
              <a:buFont typeface="Wingdings" panose="020B0604020202020204" pitchFamily="34" charset="0"/>
              <a:buChar char="Ø"/>
            </a:pPr>
            <a:r>
              <a:rPr lang="en-IN" b="1" dirty="0">
                <a:ea typeface="+mn-lt"/>
                <a:cs typeface="+mn-lt"/>
              </a:rPr>
              <a:t>Stress Level:</a:t>
            </a:r>
            <a:r>
              <a:rPr lang="en-IN" dirty="0">
                <a:ea typeface="+mn-lt"/>
                <a:cs typeface="+mn-lt"/>
              </a:rPr>
              <a:t> Rated on a 1–10 scale, ranging from </a:t>
            </a:r>
            <a:r>
              <a:rPr lang="en-IN" b="1" dirty="0">
                <a:ea typeface="+mn-lt"/>
                <a:cs typeface="+mn-lt"/>
              </a:rPr>
              <a:t>3 to 8</a:t>
            </a:r>
            <a:r>
              <a:rPr lang="en-IN" dirty="0">
                <a:ea typeface="+mn-lt"/>
                <a:cs typeface="+mn-lt"/>
              </a:rPr>
              <a:t>, with an overall average stress score of </a:t>
            </a:r>
            <a:r>
              <a:rPr lang="en-IN" b="1" dirty="0">
                <a:ea typeface="+mn-lt"/>
                <a:cs typeface="+mn-lt"/>
              </a:rPr>
              <a:t>5.39</a:t>
            </a:r>
            <a:r>
              <a:rPr lang="en-IN" dirty="0">
                <a:ea typeface="+mn-lt"/>
                <a:cs typeface="+mn-lt"/>
              </a:rPr>
              <a:t>.</a:t>
            </a:r>
            <a:endParaRPr lang="en-IN" dirty="0"/>
          </a:p>
          <a:p>
            <a:pPr marL="342900" indent="-342900" algn="just">
              <a:buFont typeface="Wingdings" panose="020B0604020202020204" pitchFamily="34" charset="0"/>
              <a:buChar char="Ø"/>
            </a:pPr>
            <a:endParaRPr lang="en-IN" sz="1600" dirty="0"/>
          </a:p>
        </p:txBody>
      </p:sp>
    </p:spTree>
    <p:extLst>
      <p:ext uri="{BB962C8B-B14F-4D97-AF65-F5344CB8AC3E}">
        <p14:creationId xmlns:p14="http://schemas.microsoft.com/office/powerpoint/2010/main" val="7369302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9EAFB0D4-ED04-DC19-E3C2-9BC1B1A18E7A}"/>
            </a:ext>
          </a:extLst>
        </p:cNvPr>
        <p:cNvGrpSpPr/>
        <p:nvPr/>
      </p:nvGrpSpPr>
      <p:grpSpPr>
        <a:xfrm>
          <a:off x="0" y="0"/>
          <a:ext cx="0" cy="0"/>
          <a:chOff x="0" y="0"/>
          <a:chExt cx="0" cy="0"/>
        </a:xfrm>
      </p:grpSpPr>
      <p:sp>
        <p:nvSpPr>
          <p:cNvPr id="135" name="Google Shape;135;p26">
            <a:extLst>
              <a:ext uri="{FF2B5EF4-FFF2-40B4-BE49-F238E27FC236}">
                <a16:creationId xmlns:a16="http://schemas.microsoft.com/office/drawing/2014/main" id="{1A2391B6-E2B1-687A-623A-CEE0204FC1A1}"/>
              </a:ext>
            </a:extLst>
          </p:cNvPr>
          <p:cNvSpPr txBox="1">
            <a:spLocks noGrp="1"/>
          </p:cNvSpPr>
          <p:nvPr>
            <p:ph type="title"/>
          </p:nvPr>
        </p:nvSpPr>
        <p:spPr>
          <a:xfrm>
            <a:off x="342474" y="487048"/>
            <a:ext cx="8456207" cy="572700"/>
          </a:xfrm>
          <a:prstGeom prst="rect">
            <a:avLst/>
          </a:prstGeom>
        </p:spPr>
        <p:txBody>
          <a:bodyPr spcFirstLastPara="1" wrap="square" lIns="91425" tIns="91425" rIns="91425" bIns="91425" anchor="t" anchorCtr="0">
            <a:normAutofit fontScale="90000"/>
          </a:bodyPr>
          <a:lstStyle/>
          <a:p>
            <a:r>
              <a:rPr lang="en" dirty="0">
                <a:ea typeface="+mj-lt"/>
                <a:cs typeface="+mj-lt"/>
              </a:rPr>
              <a:t>KEY DETAILS</a:t>
            </a:r>
            <a:br>
              <a:rPr lang="en" dirty="0">
                <a:ea typeface="+mj-lt"/>
                <a:cs typeface="+mj-lt"/>
              </a:rPr>
            </a:br>
            <a:r>
              <a:rPr lang="en" sz="1800" dirty="0">
                <a:solidFill>
                  <a:schemeClr val="accent2">
                    <a:lumMod val="76000"/>
                  </a:schemeClr>
                </a:solidFill>
                <a:ea typeface="+mj-lt"/>
                <a:cs typeface="+mj-lt"/>
              </a:rPr>
              <a:t>Cardiovascular &amp; Physical Health Details</a:t>
            </a:r>
            <a:endParaRPr lang="en-US" sz="1800">
              <a:solidFill>
                <a:schemeClr val="accent2">
                  <a:lumMod val="76000"/>
                </a:schemeClr>
              </a:solidFill>
              <a:ea typeface="+mj-lt"/>
              <a:cs typeface="+mj-lt"/>
            </a:endParaRPr>
          </a:p>
        </p:txBody>
      </p:sp>
      <p:sp>
        <p:nvSpPr>
          <p:cNvPr id="5" name="TextBox 4">
            <a:extLst>
              <a:ext uri="{FF2B5EF4-FFF2-40B4-BE49-F238E27FC236}">
                <a16:creationId xmlns:a16="http://schemas.microsoft.com/office/drawing/2014/main" id="{2FEBB83F-AC9B-A87B-6FC3-7EDCA9F74694}"/>
              </a:ext>
            </a:extLst>
          </p:cNvPr>
          <p:cNvSpPr txBox="1"/>
          <p:nvPr/>
        </p:nvSpPr>
        <p:spPr>
          <a:xfrm>
            <a:off x="342476" y="1639651"/>
            <a:ext cx="8456206" cy="2554545"/>
          </a:xfrm>
          <a:prstGeom prst="rect">
            <a:avLst/>
          </a:prstGeom>
          <a:noFill/>
        </p:spPr>
        <p:txBody>
          <a:bodyPr wrap="square" lIns="91440" tIns="45720" rIns="91440" bIns="45720" anchor="t">
            <a:spAutoFit/>
          </a:bodyPr>
          <a:lstStyle/>
          <a:p>
            <a:pPr marL="342900" indent="-342900" algn="just">
              <a:buFont typeface="Wingdings"/>
              <a:buChar char="Ø"/>
            </a:pPr>
            <a:r>
              <a:rPr lang="en-IN" b="1" dirty="0">
                <a:ea typeface="+mn-lt"/>
                <a:cs typeface="+mn-lt"/>
              </a:rPr>
              <a:t>BMI Category:</a:t>
            </a:r>
            <a:r>
              <a:rPr lang="en-IN" dirty="0">
                <a:ea typeface="+mn-lt"/>
                <a:cs typeface="+mn-lt"/>
              </a:rPr>
              <a:t> Classifies respondents into </a:t>
            </a:r>
            <a:r>
              <a:rPr lang="en-IN" b="1" dirty="0">
                <a:ea typeface="+mn-lt"/>
                <a:cs typeface="+mn-lt"/>
              </a:rPr>
              <a:t>Normal/Normal Weight (216 people)</a:t>
            </a:r>
            <a:r>
              <a:rPr lang="en-IN" dirty="0">
                <a:ea typeface="+mn-lt"/>
                <a:cs typeface="+mn-lt"/>
              </a:rPr>
              <a:t>, </a:t>
            </a:r>
            <a:r>
              <a:rPr lang="en-IN" b="1" dirty="0">
                <a:ea typeface="+mn-lt"/>
                <a:cs typeface="+mn-lt"/>
              </a:rPr>
              <a:t>Overweight (148 people)</a:t>
            </a:r>
            <a:r>
              <a:rPr lang="en-IN" dirty="0">
                <a:ea typeface="+mn-lt"/>
                <a:cs typeface="+mn-lt"/>
              </a:rPr>
              <a:t>, and </a:t>
            </a:r>
            <a:r>
              <a:rPr lang="en-IN" b="1" dirty="0">
                <a:ea typeface="+mn-lt"/>
                <a:cs typeface="+mn-lt"/>
              </a:rPr>
              <a:t>Obese (10 people)</a:t>
            </a:r>
            <a:r>
              <a:rPr lang="en-IN" dirty="0">
                <a:ea typeface="+mn-lt"/>
                <a:cs typeface="+mn-lt"/>
              </a:rPr>
              <a:t>.</a:t>
            </a:r>
            <a:endParaRPr lang="en-US" dirty="0"/>
          </a:p>
          <a:p>
            <a:pPr algn="just"/>
            <a:r>
              <a:rPr lang="en-IN" dirty="0"/>
              <a:t>           </a:t>
            </a:r>
            <a:endParaRPr lang="en-US"/>
          </a:p>
          <a:p>
            <a:pPr marL="342900" indent="-342900" algn="just">
              <a:buFont typeface="Wingdings" panose="020B0604020202020204" pitchFamily="34" charset="0"/>
              <a:buChar char="Ø"/>
            </a:pPr>
            <a:r>
              <a:rPr lang="en-IN" b="1" dirty="0">
                <a:ea typeface="+mn-lt"/>
                <a:cs typeface="+mn-lt"/>
              </a:rPr>
              <a:t>Blood Pressure:</a:t>
            </a:r>
            <a:r>
              <a:rPr lang="en-IN" dirty="0">
                <a:ea typeface="+mn-lt"/>
                <a:cs typeface="+mn-lt"/>
              </a:rPr>
              <a:t> Measures Systolic (</a:t>
            </a:r>
            <a:r>
              <a:rPr lang="en-IN" b="1" dirty="0">
                <a:ea typeface="+mn-lt"/>
                <a:cs typeface="+mn-lt"/>
              </a:rPr>
              <a:t>115 to 142 mmHg</a:t>
            </a:r>
            <a:r>
              <a:rPr lang="en-IN" dirty="0">
                <a:ea typeface="+mn-lt"/>
                <a:cs typeface="+mn-lt"/>
              </a:rPr>
              <a:t>) and Diastolic (</a:t>
            </a:r>
            <a:r>
              <a:rPr lang="en-IN" b="1" dirty="0">
                <a:ea typeface="+mn-lt"/>
                <a:cs typeface="+mn-lt"/>
              </a:rPr>
              <a:t>75 to 95 mmHg</a:t>
            </a:r>
            <a:r>
              <a:rPr lang="en-IN" dirty="0">
                <a:ea typeface="+mn-lt"/>
                <a:cs typeface="+mn-lt"/>
              </a:rPr>
              <a:t>) pressures. </a:t>
            </a:r>
            <a:endParaRPr lang="en-IN" dirty="0"/>
          </a:p>
          <a:p>
            <a:pPr algn="just">
              <a:buNone/>
            </a:pPr>
            <a:endParaRPr lang="en-IN" dirty="0"/>
          </a:p>
          <a:p>
            <a:pPr marL="342900" indent="-342900" algn="just">
              <a:buFont typeface="Wingdings" panose="020B0604020202020204" pitchFamily="34" charset="0"/>
              <a:buChar char="Ø"/>
            </a:pPr>
            <a:r>
              <a:rPr lang="en-IN" b="1" dirty="0">
                <a:ea typeface="+mn-lt"/>
                <a:cs typeface="+mn-lt"/>
              </a:rPr>
              <a:t>Heart Rate:</a:t>
            </a:r>
            <a:r>
              <a:rPr lang="en-IN" dirty="0">
                <a:ea typeface="+mn-lt"/>
                <a:cs typeface="+mn-lt"/>
              </a:rPr>
              <a:t> Resting heart rate ranges from </a:t>
            </a:r>
            <a:r>
              <a:rPr lang="en-IN" b="1" dirty="0">
                <a:ea typeface="+mn-lt"/>
                <a:cs typeface="+mn-lt"/>
              </a:rPr>
              <a:t>65 to 86 beats per minute (bpm)</a:t>
            </a:r>
            <a:r>
              <a:rPr lang="en-IN" dirty="0">
                <a:ea typeface="+mn-lt"/>
                <a:cs typeface="+mn-lt"/>
              </a:rPr>
              <a:t>, with an average of </a:t>
            </a:r>
            <a:r>
              <a:rPr lang="en-IN" b="1" dirty="0">
                <a:ea typeface="+mn-lt"/>
                <a:cs typeface="+mn-lt"/>
              </a:rPr>
              <a:t>70.2 bpm</a:t>
            </a:r>
            <a:r>
              <a:rPr lang="en-IN" dirty="0">
                <a:ea typeface="+mn-lt"/>
                <a:cs typeface="+mn-lt"/>
              </a:rPr>
              <a:t>. </a:t>
            </a:r>
            <a:endParaRPr lang="en-IN" dirty="0"/>
          </a:p>
          <a:p>
            <a:pPr marL="342900" indent="-342900" algn="just">
              <a:buFont typeface="Wingdings" panose="020B0604020202020204" pitchFamily="34" charset="0"/>
              <a:buChar char="Ø"/>
            </a:pPr>
            <a:endParaRPr lang="en-IN" sz="1600" dirty="0"/>
          </a:p>
        </p:txBody>
      </p:sp>
    </p:spTree>
    <p:extLst>
      <p:ext uri="{BB962C8B-B14F-4D97-AF65-F5344CB8AC3E}">
        <p14:creationId xmlns:p14="http://schemas.microsoft.com/office/powerpoint/2010/main" val="41163821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C6069-3695-B65C-DAF3-D4F0B9093F1C}"/>
              </a:ext>
            </a:extLst>
          </p:cNvPr>
          <p:cNvSpPr>
            <a:spLocks noGrp="1"/>
          </p:cNvSpPr>
          <p:nvPr>
            <p:ph type="title"/>
          </p:nvPr>
        </p:nvSpPr>
        <p:spPr/>
        <p:txBody>
          <a:bodyPr>
            <a:normAutofit fontScale="90000"/>
          </a:bodyPr>
          <a:lstStyle/>
          <a:p>
            <a:r>
              <a:rPr lang="en-US" dirty="0">
                <a:ea typeface="+mj-lt"/>
                <a:cs typeface="+mj-lt"/>
              </a:rPr>
              <a:t>CRITERIA USED — Charts</a:t>
            </a:r>
            <a:endParaRPr lang="en-US" dirty="0"/>
          </a:p>
        </p:txBody>
      </p:sp>
      <p:sp>
        <p:nvSpPr>
          <p:cNvPr id="3" name="Text Placeholder 2">
            <a:extLst>
              <a:ext uri="{FF2B5EF4-FFF2-40B4-BE49-F238E27FC236}">
                <a16:creationId xmlns:a16="http://schemas.microsoft.com/office/drawing/2014/main" id="{A362D178-E92C-AEA9-36B7-5BFBBD6AF600}"/>
              </a:ext>
            </a:extLst>
          </p:cNvPr>
          <p:cNvSpPr>
            <a:spLocks noGrp="1"/>
          </p:cNvSpPr>
          <p:nvPr>
            <p:ph type="body" idx="1"/>
          </p:nvPr>
        </p:nvSpPr>
        <p:spPr>
          <a:xfrm>
            <a:off x="311700" y="1564291"/>
            <a:ext cx="8520600" cy="3349164"/>
          </a:xfrm>
        </p:spPr>
        <p:txBody>
          <a:bodyPr>
            <a:normAutofit/>
          </a:bodyPr>
          <a:lstStyle/>
          <a:p>
            <a:pPr algn="just"/>
            <a:r>
              <a:rPr lang="en-US" b="1" dirty="0">
                <a:ea typeface="+mn-lt"/>
                <a:cs typeface="+mn-lt"/>
              </a:rPr>
              <a:t>Sleep Disorder Breakdown (Donut Chart):</a:t>
            </a:r>
            <a:r>
              <a:rPr lang="en-US" dirty="0">
                <a:ea typeface="+mn-lt"/>
                <a:cs typeface="+mn-lt"/>
              </a:rPr>
              <a:t> Visualizes the proportion of individuals with </a:t>
            </a:r>
            <a:r>
              <a:rPr lang="en-US" i="1" dirty="0">
                <a:ea typeface="+mn-lt"/>
                <a:cs typeface="+mn-lt"/>
              </a:rPr>
              <a:t>None</a:t>
            </a:r>
            <a:r>
              <a:rPr lang="en-US" dirty="0">
                <a:ea typeface="+mn-lt"/>
                <a:cs typeface="+mn-lt"/>
              </a:rPr>
              <a:t>, </a:t>
            </a:r>
            <a:r>
              <a:rPr lang="en-US" i="1" dirty="0">
                <a:ea typeface="+mn-lt"/>
                <a:cs typeface="+mn-lt"/>
              </a:rPr>
              <a:t>Sleep Apnea</a:t>
            </a:r>
            <a:r>
              <a:rPr lang="en-US" dirty="0">
                <a:ea typeface="+mn-lt"/>
                <a:cs typeface="+mn-lt"/>
              </a:rPr>
              <a:t>, and </a:t>
            </a:r>
            <a:r>
              <a:rPr lang="en-US" i="1" dirty="0">
                <a:ea typeface="+mn-lt"/>
                <a:cs typeface="+mn-lt"/>
              </a:rPr>
              <a:t>Insomnia</a:t>
            </a:r>
            <a:r>
              <a:rPr lang="en-US" dirty="0">
                <a:ea typeface="+mn-lt"/>
                <a:cs typeface="+mn-lt"/>
              </a:rPr>
              <a:t>.  </a:t>
            </a:r>
            <a:endParaRPr lang="en-US" dirty="0"/>
          </a:p>
          <a:p>
            <a:pPr marL="114300" indent="0" algn="just">
              <a:buNone/>
            </a:pPr>
            <a:endParaRPr lang="en-US" dirty="0"/>
          </a:p>
          <a:p>
            <a:pPr algn="just"/>
            <a:r>
              <a:rPr lang="en-US" b="1" dirty="0">
                <a:ea typeface="+mn-lt"/>
                <a:cs typeface="+mn-lt"/>
              </a:rPr>
              <a:t>Avg Sleep Duration by Occupation (Bar Chart):</a:t>
            </a:r>
            <a:r>
              <a:rPr lang="en-US" dirty="0">
                <a:ea typeface="+mn-lt"/>
                <a:cs typeface="+mn-lt"/>
              </a:rPr>
              <a:t> Ranks average sleep duration across all 11 occupations . </a:t>
            </a:r>
            <a:endParaRPr lang="en-US" dirty="0"/>
          </a:p>
          <a:p>
            <a:pPr algn="just"/>
            <a:endParaRPr lang="en-US" b="1" dirty="0">
              <a:ea typeface="+mn-lt"/>
              <a:cs typeface="+mn-lt"/>
            </a:endParaRPr>
          </a:p>
          <a:p>
            <a:pPr algn="just"/>
            <a:r>
              <a:rPr lang="en-US" b="1" dirty="0">
                <a:ea typeface="+mn-lt"/>
                <a:cs typeface="+mn-lt"/>
              </a:rPr>
              <a:t>Physical Activity vs. Sleep Quality (Scatter Chart):</a:t>
            </a:r>
            <a:r>
              <a:rPr lang="en-US" dirty="0">
                <a:ea typeface="+mn-lt"/>
                <a:cs typeface="+mn-lt"/>
              </a:rPr>
              <a:t> Explores the correlation between daily physical activity levels and subjective sleep quality scores. </a:t>
            </a:r>
            <a:endParaRPr lang="en-US" dirty="0"/>
          </a:p>
        </p:txBody>
      </p:sp>
    </p:spTree>
    <p:extLst>
      <p:ext uri="{BB962C8B-B14F-4D97-AF65-F5344CB8AC3E}">
        <p14:creationId xmlns:p14="http://schemas.microsoft.com/office/powerpoint/2010/main" val="24447909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C6069-3695-B65C-DAF3-D4F0B9093F1C}"/>
              </a:ext>
            </a:extLst>
          </p:cNvPr>
          <p:cNvSpPr>
            <a:spLocks noGrp="1"/>
          </p:cNvSpPr>
          <p:nvPr>
            <p:ph type="title"/>
          </p:nvPr>
        </p:nvSpPr>
        <p:spPr/>
        <p:txBody>
          <a:bodyPr>
            <a:normAutofit fontScale="90000"/>
          </a:bodyPr>
          <a:lstStyle/>
          <a:p>
            <a:r>
              <a:rPr lang="en-US" dirty="0">
                <a:ea typeface="+mj-lt"/>
                <a:cs typeface="+mj-lt"/>
              </a:rPr>
              <a:t>CRITERIA USED — Charts</a:t>
            </a:r>
            <a:endParaRPr lang="en-US" dirty="0"/>
          </a:p>
        </p:txBody>
      </p:sp>
      <p:sp>
        <p:nvSpPr>
          <p:cNvPr id="3" name="Text Placeholder 2">
            <a:extLst>
              <a:ext uri="{FF2B5EF4-FFF2-40B4-BE49-F238E27FC236}">
                <a16:creationId xmlns:a16="http://schemas.microsoft.com/office/drawing/2014/main" id="{A362D178-E92C-AEA9-36B7-5BFBBD6AF600}"/>
              </a:ext>
            </a:extLst>
          </p:cNvPr>
          <p:cNvSpPr>
            <a:spLocks noGrp="1"/>
          </p:cNvSpPr>
          <p:nvPr>
            <p:ph type="body" idx="1"/>
          </p:nvPr>
        </p:nvSpPr>
        <p:spPr>
          <a:xfrm>
            <a:off x="177229" y="1413012"/>
            <a:ext cx="8520600" cy="3290333"/>
          </a:xfrm>
        </p:spPr>
        <p:txBody>
          <a:bodyPr>
            <a:normAutofit/>
          </a:bodyPr>
          <a:lstStyle/>
          <a:p>
            <a:pPr algn="just"/>
            <a:r>
              <a:rPr lang="en-US" b="1" dirty="0">
                <a:ea typeface="+mn-lt"/>
                <a:cs typeface="+mn-lt"/>
              </a:rPr>
              <a:t>Stress &amp; Sleep Quality by Age Group (Clustered Column Chart):</a:t>
            </a:r>
            <a:r>
              <a:rPr lang="en-US" dirty="0">
                <a:ea typeface="+mn-lt"/>
                <a:cs typeface="+mn-lt"/>
              </a:rPr>
              <a:t> Compares average stress levels alongside average sleep quality across age bands </a:t>
            </a:r>
            <a:endParaRPr lang="en-US" dirty="0"/>
          </a:p>
          <a:p>
            <a:pPr algn="just"/>
            <a:endParaRPr lang="en-US" dirty="0">
              <a:ea typeface="+mn-lt"/>
              <a:cs typeface="+mn-lt"/>
            </a:endParaRPr>
          </a:p>
          <a:p>
            <a:pPr algn="just"/>
            <a:r>
              <a:rPr lang="en-US" b="1" dirty="0">
                <a:ea typeface="+mn-lt"/>
                <a:cs typeface="+mn-lt"/>
              </a:rPr>
              <a:t>% Hypertensive by BMI Category (Bar Chart):</a:t>
            </a:r>
            <a:r>
              <a:rPr lang="en-US" dirty="0">
                <a:ea typeface="+mn-lt"/>
                <a:cs typeface="+mn-lt"/>
              </a:rPr>
              <a:t> Displays the percentage of individuals categorized as hypertensive across </a:t>
            </a:r>
            <a:r>
              <a:rPr lang="en-US" i="1" dirty="0">
                <a:ea typeface="+mn-lt"/>
                <a:cs typeface="+mn-lt"/>
              </a:rPr>
              <a:t>Normal</a:t>
            </a:r>
            <a:r>
              <a:rPr lang="en-US" dirty="0">
                <a:ea typeface="+mn-lt"/>
                <a:cs typeface="+mn-lt"/>
              </a:rPr>
              <a:t>, </a:t>
            </a:r>
            <a:r>
              <a:rPr lang="en-US" i="1" dirty="0">
                <a:ea typeface="+mn-lt"/>
                <a:cs typeface="+mn-lt"/>
              </a:rPr>
              <a:t>Overweight</a:t>
            </a:r>
            <a:r>
              <a:rPr lang="en-US" dirty="0">
                <a:ea typeface="+mn-lt"/>
                <a:cs typeface="+mn-lt"/>
              </a:rPr>
              <a:t>, and </a:t>
            </a:r>
            <a:r>
              <a:rPr lang="en-US" i="1" dirty="0">
                <a:ea typeface="+mn-lt"/>
                <a:cs typeface="+mn-lt"/>
              </a:rPr>
              <a:t>Obese</a:t>
            </a:r>
            <a:r>
              <a:rPr lang="en-US" dirty="0">
                <a:ea typeface="+mn-lt"/>
                <a:cs typeface="+mn-lt"/>
              </a:rPr>
              <a:t> BMI levels.</a:t>
            </a:r>
          </a:p>
          <a:p>
            <a:pPr algn="just"/>
            <a:endParaRPr lang="en-US" dirty="0">
              <a:ea typeface="+mn-lt"/>
              <a:cs typeface="+mn-lt"/>
            </a:endParaRPr>
          </a:p>
          <a:p>
            <a:pPr algn="just"/>
            <a:r>
              <a:rPr lang="en-US" b="1" dirty="0">
                <a:ea typeface="+mn-lt"/>
                <a:cs typeface="+mn-lt"/>
              </a:rPr>
              <a:t>Occupation Summary (Table with Color Scale):</a:t>
            </a:r>
            <a:r>
              <a:rPr lang="en-US" dirty="0">
                <a:ea typeface="+mn-lt"/>
                <a:cs typeface="+mn-lt"/>
              </a:rPr>
              <a:t> Summarizes occupational metrics including average stress level, sleep duration, and disorder percentages.</a:t>
            </a:r>
            <a:r>
              <a:rPr lang="en-US" sz="1600" dirty="0">
                <a:ea typeface="+mn-lt"/>
                <a:cs typeface="+mn-lt"/>
              </a:rPr>
              <a:t> </a:t>
            </a:r>
            <a:endParaRPr lang="en-US" sz="1600" dirty="0"/>
          </a:p>
        </p:txBody>
      </p:sp>
    </p:spTree>
    <p:extLst>
      <p:ext uri="{BB962C8B-B14F-4D97-AF65-F5344CB8AC3E}">
        <p14:creationId xmlns:p14="http://schemas.microsoft.com/office/powerpoint/2010/main" val="39526975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C6069-3695-B65C-DAF3-D4F0B9093F1C}"/>
              </a:ext>
            </a:extLst>
          </p:cNvPr>
          <p:cNvSpPr>
            <a:spLocks noGrp="1"/>
          </p:cNvSpPr>
          <p:nvPr>
            <p:ph type="title"/>
          </p:nvPr>
        </p:nvSpPr>
        <p:spPr/>
        <p:txBody>
          <a:bodyPr>
            <a:normAutofit fontScale="90000"/>
          </a:bodyPr>
          <a:lstStyle/>
          <a:p>
            <a:r>
              <a:rPr lang="en-US" dirty="0">
                <a:ea typeface="+mj-lt"/>
                <a:cs typeface="+mj-lt"/>
              </a:rPr>
              <a:t>CRITERIA USED — Cards &amp; Slicers</a:t>
            </a:r>
            <a:endParaRPr lang="en-US" dirty="0"/>
          </a:p>
        </p:txBody>
      </p:sp>
      <p:sp>
        <p:nvSpPr>
          <p:cNvPr id="3" name="Text Placeholder 2">
            <a:extLst>
              <a:ext uri="{FF2B5EF4-FFF2-40B4-BE49-F238E27FC236}">
                <a16:creationId xmlns:a16="http://schemas.microsoft.com/office/drawing/2014/main" id="{A362D178-E92C-AEA9-36B7-5BFBBD6AF600}"/>
              </a:ext>
            </a:extLst>
          </p:cNvPr>
          <p:cNvSpPr>
            <a:spLocks noGrp="1"/>
          </p:cNvSpPr>
          <p:nvPr>
            <p:ph type="body" idx="1"/>
          </p:nvPr>
        </p:nvSpPr>
        <p:spPr>
          <a:xfrm>
            <a:off x="177229" y="1413012"/>
            <a:ext cx="8520600" cy="3290333"/>
          </a:xfrm>
        </p:spPr>
        <p:txBody>
          <a:bodyPr>
            <a:normAutofit lnSpcReduction="10000"/>
          </a:bodyPr>
          <a:lstStyle/>
          <a:p>
            <a:pPr marL="114300" indent="0" algn="just">
              <a:buNone/>
            </a:pPr>
            <a:r>
              <a:rPr lang="en-US" sz="2000" b="1" dirty="0">
                <a:solidFill>
                  <a:schemeClr val="accent2">
                    <a:lumMod val="76000"/>
                  </a:schemeClr>
                </a:solidFill>
                <a:ea typeface="+mn-lt"/>
                <a:cs typeface="+mn-lt"/>
              </a:rPr>
              <a:t>KPI Cards:</a:t>
            </a:r>
            <a:endParaRPr lang="en-US"/>
          </a:p>
          <a:p>
            <a:pPr algn="just"/>
            <a:endParaRPr lang="en-US" sz="1600" b="1" dirty="0">
              <a:ea typeface="+mn-lt"/>
              <a:cs typeface="+mn-lt"/>
            </a:endParaRPr>
          </a:p>
          <a:p>
            <a:pPr algn="just"/>
            <a:r>
              <a:rPr lang="en-US" b="1" dirty="0">
                <a:ea typeface="+mn-lt"/>
                <a:cs typeface="+mn-lt"/>
              </a:rPr>
              <a:t>Total People:</a:t>
            </a:r>
            <a:r>
              <a:rPr lang="en-US" dirty="0">
                <a:ea typeface="+mn-lt"/>
                <a:cs typeface="+mn-lt"/>
              </a:rPr>
              <a:t> </a:t>
            </a:r>
            <a:r>
              <a:rPr lang="en-US" dirty="0">
                <a:latin typeface="Consolas"/>
                <a:ea typeface="+mn-lt"/>
                <a:cs typeface="+mn-lt"/>
              </a:rPr>
              <a:t>374</a:t>
            </a:r>
            <a:endParaRPr lang="en-US" dirty="0">
              <a:latin typeface="Consolas"/>
            </a:endParaRPr>
          </a:p>
          <a:p>
            <a:pPr algn="just"/>
            <a:r>
              <a:rPr lang="en-US" b="1" dirty="0">
                <a:ea typeface="+mn-lt"/>
                <a:cs typeface="+mn-lt"/>
              </a:rPr>
              <a:t>Avg Sleep Duration:</a:t>
            </a:r>
            <a:r>
              <a:rPr lang="en-US" dirty="0">
                <a:ea typeface="+mn-lt"/>
                <a:cs typeface="+mn-lt"/>
              </a:rPr>
              <a:t> </a:t>
            </a:r>
            <a:r>
              <a:rPr lang="en-US" dirty="0">
                <a:latin typeface="Consolas"/>
                <a:ea typeface="+mn-lt"/>
                <a:cs typeface="+mn-lt"/>
              </a:rPr>
              <a:t>7.13 hr</a:t>
            </a:r>
            <a:endParaRPr lang="en-US" dirty="0">
              <a:latin typeface="Consolas"/>
            </a:endParaRPr>
          </a:p>
          <a:p>
            <a:pPr algn="just"/>
            <a:r>
              <a:rPr lang="en-US" b="1" dirty="0">
                <a:ea typeface="+mn-lt"/>
                <a:cs typeface="+mn-lt"/>
              </a:rPr>
              <a:t>Avg Sleep Quality:</a:t>
            </a:r>
            <a:r>
              <a:rPr lang="en-US" dirty="0">
                <a:ea typeface="+mn-lt"/>
                <a:cs typeface="+mn-lt"/>
              </a:rPr>
              <a:t> </a:t>
            </a:r>
            <a:r>
              <a:rPr lang="en-US" dirty="0">
                <a:latin typeface="Consolas"/>
                <a:ea typeface="+mn-lt"/>
                <a:cs typeface="+mn-lt"/>
              </a:rPr>
              <a:t>7.3 / 10</a:t>
            </a:r>
            <a:r>
              <a:rPr lang="en-US" dirty="0">
                <a:ea typeface="+mn-lt"/>
                <a:cs typeface="+mn-lt"/>
              </a:rPr>
              <a:t> (or </a:t>
            </a:r>
            <a:r>
              <a:rPr lang="en-US" dirty="0">
                <a:latin typeface="Consolas"/>
                <a:ea typeface="+mn-lt"/>
                <a:cs typeface="+mn-lt"/>
              </a:rPr>
              <a:t>7.31 / 10</a:t>
            </a:r>
            <a:r>
              <a:rPr lang="en-US" dirty="0">
                <a:ea typeface="+mn-lt"/>
                <a:cs typeface="+mn-lt"/>
              </a:rPr>
              <a:t>) </a:t>
            </a:r>
          </a:p>
          <a:p>
            <a:pPr algn="just"/>
            <a:r>
              <a:rPr lang="en-US" b="1" dirty="0">
                <a:ea typeface="+mn-lt"/>
                <a:cs typeface="+mn-lt"/>
              </a:rPr>
              <a:t>% With Sleep Disorder:</a:t>
            </a:r>
            <a:r>
              <a:rPr lang="en-US" dirty="0">
                <a:ea typeface="+mn-lt"/>
                <a:cs typeface="+mn-lt"/>
              </a:rPr>
              <a:t> </a:t>
            </a:r>
            <a:r>
              <a:rPr lang="en-US" dirty="0">
                <a:latin typeface="Consolas"/>
                <a:ea typeface="+mn-lt"/>
                <a:cs typeface="+mn-lt"/>
              </a:rPr>
              <a:t>41.4%</a:t>
            </a:r>
            <a:endParaRPr lang="en-US"/>
          </a:p>
          <a:p>
            <a:pPr algn="just"/>
            <a:endParaRPr lang="en-US" dirty="0">
              <a:solidFill>
                <a:srgbClr val="404040"/>
              </a:solidFill>
              <a:latin typeface="Consolas"/>
              <a:ea typeface="+mn-lt"/>
              <a:cs typeface="+mn-lt"/>
            </a:endParaRPr>
          </a:p>
          <a:p>
            <a:pPr marL="114300" indent="0" algn="just">
              <a:buNone/>
            </a:pPr>
            <a:r>
              <a:rPr lang="en-US" sz="2000" b="1" dirty="0">
                <a:solidFill>
                  <a:schemeClr val="accent2">
                    <a:lumMod val="76000"/>
                  </a:schemeClr>
                </a:solidFill>
                <a:ea typeface="+mn-lt"/>
                <a:cs typeface="+mn-lt"/>
              </a:rPr>
              <a:t>Slicers:</a:t>
            </a:r>
            <a:endParaRPr lang="en-US" sz="2000" dirty="0">
              <a:solidFill>
                <a:schemeClr val="accent2">
                  <a:lumMod val="76000"/>
                </a:schemeClr>
              </a:solidFill>
              <a:ea typeface="+mn-lt"/>
              <a:cs typeface="+mn-lt"/>
            </a:endParaRPr>
          </a:p>
          <a:p>
            <a:pPr algn="just"/>
            <a:endParaRPr lang="en-US" sz="2000" b="1" dirty="0">
              <a:solidFill>
                <a:schemeClr val="accent2">
                  <a:lumMod val="76000"/>
                </a:schemeClr>
              </a:solidFill>
              <a:ea typeface="+mn-lt"/>
              <a:cs typeface="+mn-lt"/>
            </a:endParaRPr>
          </a:p>
          <a:p>
            <a:pPr algn="just"/>
            <a:r>
              <a:rPr lang="en-US" b="1" dirty="0">
                <a:ea typeface="+mn-lt"/>
                <a:cs typeface="+mn-lt"/>
              </a:rPr>
              <a:t>Gender:</a:t>
            </a:r>
            <a:r>
              <a:rPr lang="en-US" dirty="0">
                <a:ea typeface="+mn-lt"/>
                <a:cs typeface="+mn-lt"/>
              </a:rPr>
              <a:t> Filters the report by </a:t>
            </a:r>
            <a:r>
              <a:rPr lang="en-US" i="1" dirty="0">
                <a:ea typeface="+mn-lt"/>
                <a:cs typeface="+mn-lt"/>
              </a:rPr>
              <a:t>Male</a:t>
            </a:r>
            <a:r>
              <a:rPr lang="en-US" dirty="0">
                <a:ea typeface="+mn-lt"/>
                <a:cs typeface="+mn-lt"/>
              </a:rPr>
              <a:t> and </a:t>
            </a:r>
            <a:r>
              <a:rPr lang="en-US" i="1" dirty="0">
                <a:ea typeface="+mn-lt"/>
                <a:cs typeface="+mn-lt"/>
              </a:rPr>
              <a:t>Female</a:t>
            </a:r>
            <a:r>
              <a:rPr lang="en-US" dirty="0">
                <a:ea typeface="+mn-lt"/>
                <a:cs typeface="+mn-lt"/>
              </a:rPr>
              <a:t>. </a:t>
            </a:r>
            <a:endParaRPr lang="en-US"/>
          </a:p>
          <a:p>
            <a:pPr algn="just"/>
            <a:r>
              <a:rPr lang="en-US" b="1" dirty="0">
                <a:ea typeface="+mn-lt"/>
                <a:cs typeface="+mn-lt"/>
              </a:rPr>
              <a:t>Age Group:</a:t>
            </a:r>
            <a:r>
              <a:rPr lang="en-US" dirty="0">
                <a:ea typeface="+mn-lt"/>
                <a:cs typeface="+mn-lt"/>
              </a:rPr>
              <a:t> Filters the report by age ranges (</a:t>
            </a:r>
            <a:r>
              <a:rPr lang="en-US" dirty="0">
                <a:latin typeface="Consolas"/>
                <a:ea typeface="+mn-lt"/>
                <a:cs typeface="+mn-lt"/>
              </a:rPr>
              <a:t>20-29</a:t>
            </a:r>
            <a:r>
              <a:rPr lang="en-US" dirty="0">
                <a:ea typeface="+mn-lt"/>
                <a:cs typeface="+mn-lt"/>
              </a:rPr>
              <a:t>, </a:t>
            </a:r>
            <a:r>
              <a:rPr lang="en-US" dirty="0">
                <a:latin typeface="Consolas"/>
                <a:ea typeface="+mn-lt"/>
                <a:cs typeface="+mn-lt"/>
              </a:rPr>
              <a:t>30-39</a:t>
            </a:r>
            <a:r>
              <a:rPr lang="en-US" dirty="0">
                <a:ea typeface="+mn-lt"/>
                <a:cs typeface="+mn-lt"/>
              </a:rPr>
              <a:t>, </a:t>
            </a:r>
            <a:r>
              <a:rPr lang="en-US" dirty="0">
                <a:latin typeface="Consolas"/>
                <a:ea typeface="+mn-lt"/>
                <a:cs typeface="+mn-lt"/>
              </a:rPr>
              <a:t>40-49</a:t>
            </a:r>
            <a:r>
              <a:rPr lang="en-US" dirty="0">
                <a:ea typeface="+mn-lt"/>
                <a:cs typeface="+mn-lt"/>
              </a:rPr>
              <a:t>, </a:t>
            </a:r>
            <a:r>
              <a:rPr lang="en-US" dirty="0">
                <a:latin typeface="Consolas"/>
                <a:ea typeface="+mn-lt"/>
                <a:cs typeface="+mn-lt"/>
              </a:rPr>
              <a:t>50-59</a:t>
            </a:r>
            <a:r>
              <a:rPr lang="en-US" dirty="0">
                <a:ea typeface="+mn-lt"/>
                <a:cs typeface="+mn-lt"/>
              </a:rPr>
              <a:t>).</a:t>
            </a:r>
            <a:r>
              <a:rPr lang="en-US" sz="2000" dirty="0">
                <a:ea typeface="+mn-lt"/>
                <a:cs typeface="+mn-lt"/>
              </a:rPr>
              <a:t> </a:t>
            </a:r>
            <a:endParaRPr lang="en-US" sz="2000"/>
          </a:p>
          <a:p>
            <a:pPr algn="just"/>
            <a:endParaRPr lang="en-US" dirty="0"/>
          </a:p>
        </p:txBody>
      </p:sp>
    </p:spTree>
    <p:extLst>
      <p:ext uri="{BB962C8B-B14F-4D97-AF65-F5344CB8AC3E}">
        <p14:creationId xmlns:p14="http://schemas.microsoft.com/office/powerpoint/2010/main" val="9550248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C6069-3695-B65C-DAF3-D4F0B9093F1C}"/>
              </a:ext>
            </a:extLst>
          </p:cNvPr>
          <p:cNvSpPr>
            <a:spLocks noGrp="1"/>
          </p:cNvSpPr>
          <p:nvPr>
            <p:ph type="title"/>
          </p:nvPr>
        </p:nvSpPr>
        <p:spPr>
          <a:xfrm>
            <a:off x="177229" y="453429"/>
            <a:ext cx="8520600" cy="572700"/>
          </a:xfrm>
        </p:spPr>
        <p:txBody>
          <a:bodyPr>
            <a:normAutofit fontScale="90000"/>
          </a:bodyPr>
          <a:lstStyle/>
          <a:p>
            <a:r>
              <a:rPr lang="en-US" dirty="0">
                <a:ea typeface="+mj-lt"/>
                <a:cs typeface="+mj-lt"/>
              </a:rPr>
              <a:t>CRITERIA USED — DAX Measures</a:t>
            </a:r>
            <a:endParaRPr lang="en-US" dirty="0"/>
          </a:p>
        </p:txBody>
      </p:sp>
      <p:sp>
        <p:nvSpPr>
          <p:cNvPr id="3" name="Text Placeholder 2">
            <a:extLst>
              <a:ext uri="{FF2B5EF4-FFF2-40B4-BE49-F238E27FC236}">
                <a16:creationId xmlns:a16="http://schemas.microsoft.com/office/drawing/2014/main" id="{A362D178-E92C-AEA9-36B7-5BFBBD6AF600}"/>
              </a:ext>
            </a:extLst>
          </p:cNvPr>
          <p:cNvSpPr>
            <a:spLocks noGrp="1"/>
          </p:cNvSpPr>
          <p:nvPr>
            <p:ph type="body" idx="1"/>
          </p:nvPr>
        </p:nvSpPr>
        <p:spPr>
          <a:xfrm>
            <a:off x="177229" y="1413012"/>
            <a:ext cx="8520600" cy="3290333"/>
          </a:xfrm>
        </p:spPr>
        <p:txBody>
          <a:bodyPr>
            <a:normAutofit fontScale="92500" lnSpcReduction="10000"/>
          </a:bodyPr>
          <a:lstStyle/>
          <a:p>
            <a:pPr marL="285750" indent="-285750" algn="just">
              <a:buFont typeface="Wingdings" charset="2"/>
              <a:buChar char="ü"/>
            </a:pPr>
            <a:r>
              <a:rPr lang="en-US" b="1" dirty="0">
                <a:solidFill>
                  <a:schemeClr val="tx1"/>
                </a:solidFill>
                <a:ea typeface="+mn-lt"/>
                <a:cs typeface="+mn-lt"/>
              </a:rPr>
              <a:t>Total People:</a:t>
            </a:r>
            <a:r>
              <a:rPr lang="en-US" dirty="0">
                <a:solidFill>
                  <a:schemeClr val="tx1"/>
                </a:solidFill>
                <a:ea typeface="+mn-lt"/>
                <a:cs typeface="+mn-lt"/>
              </a:rPr>
              <a:t> </a:t>
            </a:r>
            <a:r>
              <a:rPr lang="en-US" dirty="0">
                <a:solidFill>
                  <a:schemeClr val="tx1"/>
                </a:solidFill>
                <a:latin typeface="Consolas"/>
                <a:ea typeface="+mn-lt"/>
                <a:cs typeface="+mn-lt"/>
              </a:rPr>
              <a:t>DISTINCTCOUNT('Sleep'[Person ID])</a:t>
            </a:r>
            <a:endParaRPr lang="en-US">
              <a:solidFill>
                <a:schemeClr val="tx1"/>
              </a:solidFill>
            </a:endParaRPr>
          </a:p>
          <a:p>
            <a:pPr marL="285750" indent="-285750" algn="just">
              <a:buFont typeface="Wingdings" charset="2"/>
              <a:buChar char="ü"/>
            </a:pPr>
            <a:endParaRPr lang="en-US" dirty="0">
              <a:solidFill>
                <a:schemeClr val="tx1"/>
              </a:solidFill>
              <a:latin typeface="Consolas"/>
              <a:ea typeface="+mn-lt"/>
              <a:cs typeface="+mn-lt"/>
            </a:endParaRPr>
          </a:p>
          <a:p>
            <a:pPr marL="285750" indent="-285750" algn="just">
              <a:buFont typeface="Wingdings" charset="2"/>
              <a:buChar char="ü"/>
            </a:pPr>
            <a:r>
              <a:rPr lang="en-US" b="1" dirty="0">
                <a:solidFill>
                  <a:schemeClr val="tx1"/>
                </a:solidFill>
                <a:ea typeface="+mn-lt"/>
                <a:cs typeface="+mn-lt"/>
              </a:rPr>
              <a:t>Avg Sleep Duration:</a:t>
            </a:r>
            <a:r>
              <a:rPr lang="en-US" dirty="0">
                <a:solidFill>
                  <a:schemeClr val="tx1"/>
                </a:solidFill>
                <a:ea typeface="+mn-lt"/>
                <a:cs typeface="+mn-lt"/>
              </a:rPr>
              <a:t> </a:t>
            </a:r>
            <a:r>
              <a:rPr lang="en-US" dirty="0">
                <a:solidFill>
                  <a:schemeClr val="tx1"/>
                </a:solidFill>
                <a:latin typeface="Consolas"/>
                <a:ea typeface="+mn-lt"/>
                <a:cs typeface="+mn-lt"/>
              </a:rPr>
              <a:t>AVERAGE('Sleep'[Sleep Duration])</a:t>
            </a:r>
            <a:endParaRPr lang="en-US">
              <a:solidFill>
                <a:schemeClr val="tx1"/>
              </a:solidFill>
            </a:endParaRPr>
          </a:p>
          <a:p>
            <a:pPr marL="285750" indent="-285750" algn="just">
              <a:buFont typeface="Wingdings" charset="2"/>
              <a:buChar char="ü"/>
            </a:pPr>
            <a:endParaRPr lang="en-US" dirty="0">
              <a:solidFill>
                <a:schemeClr val="tx1"/>
              </a:solidFill>
              <a:latin typeface="Consolas"/>
              <a:ea typeface="+mn-lt"/>
              <a:cs typeface="+mn-lt"/>
            </a:endParaRPr>
          </a:p>
          <a:p>
            <a:pPr marL="285750" indent="-285750" algn="just">
              <a:buFont typeface="Wingdings" charset="2"/>
              <a:buChar char="ü"/>
            </a:pPr>
            <a:r>
              <a:rPr lang="en-US" b="1" dirty="0">
                <a:solidFill>
                  <a:schemeClr val="tx1"/>
                </a:solidFill>
                <a:ea typeface="+mn-lt"/>
                <a:cs typeface="+mn-lt"/>
              </a:rPr>
              <a:t>Avg Sleep Quality:</a:t>
            </a:r>
            <a:r>
              <a:rPr lang="en-US" dirty="0">
                <a:solidFill>
                  <a:schemeClr val="tx1"/>
                </a:solidFill>
                <a:ea typeface="+mn-lt"/>
                <a:cs typeface="+mn-lt"/>
              </a:rPr>
              <a:t> </a:t>
            </a:r>
            <a:r>
              <a:rPr lang="en-US" dirty="0">
                <a:solidFill>
                  <a:schemeClr val="tx1"/>
                </a:solidFill>
                <a:latin typeface="Consolas"/>
                <a:ea typeface="+mn-lt"/>
                <a:cs typeface="+mn-lt"/>
              </a:rPr>
              <a:t>AVERAGE('Sleep'[Quality of Sleep])</a:t>
            </a:r>
            <a:endParaRPr lang="en-US">
              <a:solidFill>
                <a:schemeClr val="tx1"/>
              </a:solidFill>
            </a:endParaRPr>
          </a:p>
          <a:p>
            <a:pPr marL="285750" indent="-285750" algn="just">
              <a:buFont typeface="Wingdings" charset="2"/>
              <a:buChar char="ü"/>
            </a:pPr>
            <a:endParaRPr lang="en-US" dirty="0">
              <a:solidFill>
                <a:schemeClr val="tx1"/>
              </a:solidFill>
              <a:latin typeface="Consolas"/>
              <a:ea typeface="+mn-lt"/>
              <a:cs typeface="+mn-lt"/>
            </a:endParaRPr>
          </a:p>
          <a:p>
            <a:pPr marL="285750" indent="-285750" algn="just">
              <a:buFont typeface="Wingdings" charset="2"/>
              <a:buChar char="ü"/>
            </a:pPr>
            <a:r>
              <a:rPr lang="en-US" b="1" dirty="0">
                <a:solidFill>
                  <a:schemeClr val="tx1"/>
                </a:solidFill>
                <a:ea typeface="+mn-lt"/>
                <a:cs typeface="+mn-lt"/>
              </a:rPr>
              <a:t>Avg Stress Level:</a:t>
            </a:r>
            <a:r>
              <a:rPr lang="en-US" dirty="0">
                <a:solidFill>
                  <a:schemeClr val="tx1"/>
                </a:solidFill>
                <a:ea typeface="+mn-lt"/>
                <a:cs typeface="+mn-lt"/>
              </a:rPr>
              <a:t> </a:t>
            </a:r>
            <a:r>
              <a:rPr lang="en-US" dirty="0">
                <a:solidFill>
                  <a:schemeClr val="tx1"/>
                </a:solidFill>
                <a:latin typeface="Consolas"/>
                <a:ea typeface="+mn-lt"/>
                <a:cs typeface="+mn-lt"/>
              </a:rPr>
              <a:t>AVERAGE('Sleep'[Stress Level])</a:t>
            </a:r>
            <a:endParaRPr lang="en-US" dirty="0">
              <a:solidFill>
                <a:schemeClr val="tx1"/>
              </a:solidFill>
              <a:latin typeface="Trebuchet MS" panose="020B0603020202020204"/>
              <a:ea typeface="+mn-lt"/>
              <a:cs typeface="+mn-lt"/>
            </a:endParaRPr>
          </a:p>
          <a:p>
            <a:pPr marL="285750" indent="-285750" algn="just">
              <a:buFont typeface="Wingdings" charset="2"/>
              <a:buChar char="ü"/>
            </a:pPr>
            <a:endParaRPr lang="en-US" dirty="0">
              <a:solidFill>
                <a:schemeClr val="tx1"/>
              </a:solidFill>
              <a:latin typeface="Consolas"/>
              <a:ea typeface="+mn-lt"/>
              <a:cs typeface="+mn-lt"/>
            </a:endParaRPr>
          </a:p>
          <a:p>
            <a:pPr marL="285750" indent="-285750" algn="just">
              <a:buFont typeface="Wingdings" charset="2"/>
              <a:buChar char="ü"/>
            </a:pPr>
            <a:r>
              <a:rPr lang="en-US" b="1" dirty="0">
                <a:solidFill>
                  <a:schemeClr val="tx1"/>
                </a:solidFill>
                <a:ea typeface="+mn-lt"/>
                <a:cs typeface="+mn-lt"/>
              </a:rPr>
              <a:t>% With Sleep Disorder:</a:t>
            </a:r>
            <a:r>
              <a:rPr lang="en-US" dirty="0">
                <a:solidFill>
                  <a:schemeClr val="tx1"/>
                </a:solidFill>
                <a:ea typeface="+mn-lt"/>
                <a:cs typeface="+mn-lt"/>
              </a:rPr>
              <a:t> </a:t>
            </a:r>
            <a:r>
              <a:rPr lang="en-US" dirty="0">
                <a:solidFill>
                  <a:schemeClr val="tx1"/>
                </a:solidFill>
                <a:latin typeface="Consolas"/>
                <a:ea typeface="+mn-lt"/>
                <a:cs typeface="+mn-lt"/>
              </a:rPr>
              <a:t>DIVIDE(CALCULATE(COUNTROWS('Sleep'), 'Sleep'[Sleep Disorder Display]&lt;&gt;"None"), [Total People])</a:t>
            </a:r>
            <a:endParaRPr lang="en-US">
              <a:solidFill>
                <a:schemeClr val="tx1"/>
              </a:solidFill>
            </a:endParaRPr>
          </a:p>
          <a:p>
            <a:pPr marL="285750" indent="-285750" algn="just">
              <a:buFont typeface="Wingdings" charset="2"/>
              <a:buChar char="ü"/>
            </a:pPr>
            <a:endParaRPr lang="en-US" dirty="0">
              <a:solidFill>
                <a:schemeClr val="tx1"/>
              </a:solidFill>
              <a:latin typeface="Consolas"/>
              <a:ea typeface="+mn-lt"/>
              <a:cs typeface="+mn-lt"/>
            </a:endParaRPr>
          </a:p>
          <a:p>
            <a:pPr marL="285750" indent="-285750" algn="just">
              <a:buFont typeface="Wingdings" charset="2"/>
              <a:buChar char="ü"/>
            </a:pPr>
            <a:r>
              <a:rPr lang="en-US" b="1" dirty="0">
                <a:solidFill>
                  <a:schemeClr val="tx1"/>
                </a:solidFill>
                <a:ea typeface="+mn-lt"/>
                <a:cs typeface="+mn-lt"/>
              </a:rPr>
              <a:t>% Hypertensive:</a:t>
            </a:r>
            <a:r>
              <a:rPr lang="en-US" dirty="0">
                <a:solidFill>
                  <a:schemeClr val="tx1"/>
                </a:solidFill>
                <a:ea typeface="+mn-lt"/>
                <a:cs typeface="+mn-lt"/>
              </a:rPr>
              <a:t> </a:t>
            </a:r>
            <a:r>
              <a:rPr lang="en-US" dirty="0">
                <a:solidFill>
                  <a:schemeClr val="tx1"/>
                </a:solidFill>
                <a:latin typeface="Consolas"/>
                <a:ea typeface="+mn-lt"/>
                <a:cs typeface="+mn-lt"/>
              </a:rPr>
              <a:t>DIVIDE(CALCULATE(COUNTROWS('Sleep'), 'Sleep'[BP Category]="Hypertensive"), [Total People])</a:t>
            </a:r>
            <a:endParaRPr lang="en-US">
              <a:solidFill>
                <a:schemeClr val="tx1"/>
              </a:solidFill>
            </a:endParaRPr>
          </a:p>
          <a:p>
            <a:pPr marL="114300" indent="0" algn="just">
              <a:buNone/>
            </a:pPr>
            <a:endParaRPr lang="en-US" sz="2000" b="1" dirty="0">
              <a:solidFill>
                <a:schemeClr val="accent2">
                  <a:lumMod val="76000"/>
                </a:schemeClr>
              </a:solidFill>
            </a:endParaRPr>
          </a:p>
          <a:p>
            <a:pPr algn="just">
              <a:buFont typeface="Wingdings" charset="2"/>
              <a:buChar char="ü"/>
            </a:pPr>
            <a:endParaRPr lang="en-US" dirty="0"/>
          </a:p>
        </p:txBody>
      </p:sp>
    </p:spTree>
    <p:extLst>
      <p:ext uri="{BB962C8B-B14F-4D97-AF65-F5344CB8AC3E}">
        <p14:creationId xmlns:p14="http://schemas.microsoft.com/office/powerpoint/2010/main" val="12642684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7FB68-1A54-01A0-35C3-CF8F99E203F0}"/>
              </a:ext>
            </a:extLst>
          </p:cNvPr>
          <p:cNvSpPr>
            <a:spLocks noGrp="1"/>
          </p:cNvSpPr>
          <p:nvPr>
            <p:ph type="title"/>
          </p:nvPr>
        </p:nvSpPr>
        <p:spPr>
          <a:xfrm>
            <a:off x="-3660" y="134919"/>
            <a:ext cx="6447501" cy="990600"/>
          </a:xfrm>
        </p:spPr>
        <p:txBody>
          <a:bodyPr>
            <a:normAutofit/>
          </a:bodyPr>
          <a:lstStyle/>
          <a:p>
            <a:r>
              <a:rPr lang="en-US" sz="3200" dirty="0"/>
              <a:t>DASHBOARD</a:t>
            </a:r>
          </a:p>
        </p:txBody>
      </p:sp>
      <p:pic>
        <p:nvPicPr>
          <p:cNvPr id="4" name="Content Placeholder 3" descr="A screenshot of a data presentation&#10;&#10;AI-generated content may be incorrect.">
            <a:extLst>
              <a:ext uri="{FF2B5EF4-FFF2-40B4-BE49-F238E27FC236}">
                <a16:creationId xmlns:a16="http://schemas.microsoft.com/office/drawing/2014/main" id="{4280C1F5-DFB2-925A-D0A8-71007EB5CD10}"/>
              </a:ext>
            </a:extLst>
          </p:cNvPr>
          <p:cNvPicPr>
            <a:picLocks noGrp="1" noChangeAspect="1"/>
          </p:cNvPicPr>
          <p:nvPr>
            <p:ph idx="1"/>
          </p:nvPr>
        </p:nvPicPr>
        <p:blipFill>
          <a:blip r:embed="rId2"/>
          <a:stretch>
            <a:fillRect/>
          </a:stretch>
        </p:blipFill>
        <p:spPr>
          <a:xfrm>
            <a:off x="85565" y="811714"/>
            <a:ext cx="8931234" cy="4226487"/>
          </a:xfrm>
          <a:prstGeom prst="rect">
            <a:avLst/>
          </a:prstGeom>
        </p:spPr>
      </p:pic>
    </p:spTree>
    <p:extLst>
      <p:ext uri="{BB962C8B-B14F-4D97-AF65-F5344CB8AC3E}">
        <p14:creationId xmlns:p14="http://schemas.microsoft.com/office/powerpoint/2010/main" val="21297692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7FB68-1A54-01A0-35C3-CF8F99E203F0}"/>
              </a:ext>
            </a:extLst>
          </p:cNvPr>
          <p:cNvSpPr>
            <a:spLocks noGrp="1"/>
          </p:cNvSpPr>
          <p:nvPr>
            <p:ph type="title"/>
          </p:nvPr>
        </p:nvSpPr>
        <p:spPr>
          <a:xfrm>
            <a:off x="3736" y="137833"/>
            <a:ext cx="6447501" cy="990600"/>
          </a:xfrm>
        </p:spPr>
        <p:txBody>
          <a:bodyPr>
            <a:normAutofit/>
          </a:bodyPr>
          <a:lstStyle/>
          <a:p>
            <a:r>
              <a:rPr lang="en-US" sz="3200" dirty="0"/>
              <a:t>DASHBOARD</a:t>
            </a:r>
          </a:p>
        </p:txBody>
      </p:sp>
      <p:pic>
        <p:nvPicPr>
          <p:cNvPr id="4" name="Content Placeholder 3" descr="A screenshot of a graph&#10;&#10;AI-generated content may be incorrect.">
            <a:extLst>
              <a:ext uri="{FF2B5EF4-FFF2-40B4-BE49-F238E27FC236}">
                <a16:creationId xmlns:a16="http://schemas.microsoft.com/office/drawing/2014/main" id="{4280C1F5-DFB2-925A-D0A8-71007EB5CD10}"/>
              </a:ext>
            </a:extLst>
          </p:cNvPr>
          <p:cNvPicPr>
            <a:picLocks noGrp="1" noChangeAspect="1"/>
          </p:cNvPicPr>
          <p:nvPr>
            <p:ph idx="1"/>
          </p:nvPr>
        </p:nvPicPr>
        <p:blipFill>
          <a:blip r:embed="rId2"/>
          <a:stretch>
            <a:fillRect/>
          </a:stretch>
        </p:blipFill>
        <p:spPr>
          <a:xfrm>
            <a:off x="90151" y="811714"/>
            <a:ext cx="8871635" cy="4226487"/>
          </a:xfrm>
          <a:prstGeom prst="rect">
            <a:avLst/>
          </a:prstGeom>
        </p:spPr>
      </p:pic>
    </p:spTree>
    <p:extLst>
      <p:ext uri="{BB962C8B-B14F-4D97-AF65-F5344CB8AC3E}">
        <p14:creationId xmlns:p14="http://schemas.microsoft.com/office/powerpoint/2010/main" val="17746164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7FB68-1A54-01A0-35C3-CF8F99E203F0}"/>
              </a:ext>
            </a:extLst>
          </p:cNvPr>
          <p:cNvSpPr>
            <a:spLocks noGrp="1"/>
          </p:cNvSpPr>
          <p:nvPr>
            <p:ph type="title"/>
          </p:nvPr>
        </p:nvSpPr>
        <p:spPr>
          <a:xfrm>
            <a:off x="3736" y="112619"/>
            <a:ext cx="6447501" cy="990600"/>
          </a:xfrm>
        </p:spPr>
        <p:txBody>
          <a:bodyPr>
            <a:normAutofit/>
          </a:bodyPr>
          <a:lstStyle/>
          <a:p>
            <a:r>
              <a:rPr lang="en-US" sz="3200" dirty="0"/>
              <a:t>DASHBOARD</a:t>
            </a:r>
          </a:p>
        </p:txBody>
      </p:sp>
      <p:pic>
        <p:nvPicPr>
          <p:cNvPr id="4" name="Content Placeholder 3" descr="A screenshot of a computer&#10;&#10;AI-generated content may be incorrect.">
            <a:extLst>
              <a:ext uri="{FF2B5EF4-FFF2-40B4-BE49-F238E27FC236}">
                <a16:creationId xmlns:a16="http://schemas.microsoft.com/office/drawing/2014/main" id="{4280C1F5-DFB2-925A-D0A8-71007EB5CD10}"/>
              </a:ext>
            </a:extLst>
          </p:cNvPr>
          <p:cNvPicPr>
            <a:picLocks noGrp="1" noChangeAspect="1"/>
          </p:cNvPicPr>
          <p:nvPr>
            <p:ph idx="1"/>
          </p:nvPr>
        </p:nvPicPr>
        <p:blipFill>
          <a:blip r:embed="rId2"/>
          <a:stretch>
            <a:fillRect/>
          </a:stretch>
        </p:blipFill>
        <p:spPr>
          <a:xfrm>
            <a:off x="85690" y="794905"/>
            <a:ext cx="8956196" cy="4243296"/>
          </a:xfrm>
          <a:prstGeom prst="rect">
            <a:avLst/>
          </a:prstGeom>
        </p:spPr>
      </p:pic>
    </p:spTree>
    <p:extLst>
      <p:ext uri="{BB962C8B-B14F-4D97-AF65-F5344CB8AC3E}">
        <p14:creationId xmlns:p14="http://schemas.microsoft.com/office/powerpoint/2010/main" val="16996958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33"/>
          <p:cNvSpPr txBox="1">
            <a:spLocks noGrp="1"/>
          </p:cNvSpPr>
          <p:nvPr>
            <p:ph type="title"/>
          </p:nvPr>
        </p:nvSpPr>
        <p:spPr>
          <a:xfrm>
            <a:off x="135207" y="3021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latin typeface="+mn-lt"/>
              </a:rPr>
              <a:t>CONCLUSION</a:t>
            </a:r>
          </a:p>
        </p:txBody>
      </p:sp>
      <p:sp>
        <p:nvSpPr>
          <p:cNvPr id="3" name="Text Placeholder 2">
            <a:extLst>
              <a:ext uri="{FF2B5EF4-FFF2-40B4-BE49-F238E27FC236}">
                <a16:creationId xmlns:a16="http://schemas.microsoft.com/office/drawing/2014/main" id="{7D846AB5-8F77-6B5A-A896-EAD0A70548CB}"/>
              </a:ext>
            </a:extLst>
          </p:cNvPr>
          <p:cNvSpPr>
            <a:spLocks noGrp="1"/>
          </p:cNvSpPr>
          <p:nvPr>
            <p:ph type="body" idx="1"/>
          </p:nvPr>
        </p:nvSpPr>
        <p:spPr>
          <a:xfrm>
            <a:off x="135208" y="1157013"/>
            <a:ext cx="8520600" cy="3685341"/>
          </a:xfrm>
        </p:spPr>
        <p:txBody>
          <a:bodyPr>
            <a:normAutofit/>
          </a:bodyPr>
          <a:lstStyle/>
          <a:p>
            <a:r>
              <a:rPr lang="en-US" sz="1600" b="1" dirty="0">
                <a:ea typeface="+mn-lt"/>
                <a:cs typeface="+mn-lt"/>
              </a:rPr>
              <a:t>High Sleep Disorder Prevalence:</a:t>
            </a:r>
            <a:r>
              <a:rPr lang="en-US" sz="1600" dirty="0">
                <a:ea typeface="+mn-lt"/>
                <a:cs typeface="+mn-lt"/>
              </a:rPr>
              <a:t>  </a:t>
            </a:r>
            <a:r>
              <a:rPr lang="en-US" sz="1600" b="1" dirty="0">
                <a:ea typeface="+mn-lt"/>
                <a:cs typeface="+mn-lt"/>
              </a:rPr>
              <a:t>41.4%</a:t>
            </a:r>
            <a:r>
              <a:rPr lang="en-US" sz="1600" dirty="0">
                <a:ea typeface="+mn-lt"/>
                <a:cs typeface="+mn-lt"/>
              </a:rPr>
              <a:t> of respondents report a sleep disorder, divided almost equally between Sleep Apnea and Insomnia.</a:t>
            </a:r>
          </a:p>
          <a:p>
            <a:pPr marL="114300" indent="0" algn="just">
              <a:buNone/>
            </a:pPr>
            <a:endParaRPr lang="en-US" sz="1600" dirty="0"/>
          </a:p>
          <a:p>
            <a:r>
              <a:rPr lang="en-US" sz="1600" b="1" dirty="0">
                <a:ea typeface="+mn-lt"/>
                <a:cs typeface="+mn-lt"/>
              </a:rPr>
              <a:t>Stress Drives Poor Sleep:</a:t>
            </a:r>
            <a:r>
              <a:rPr lang="en-US" sz="1600" dirty="0">
                <a:ea typeface="+mn-lt"/>
                <a:cs typeface="+mn-lt"/>
              </a:rPr>
              <a:t>  Stress level shows a strong </a:t>
            </a:r>
            <a:r>
              <a:rPr lang="en-US" sz="1600" b="1" dirty="0">
                <a:ea typeface="+mn-lt"/>
                <a:cs typeface="+mn-lt"/>
              </a:rPr>
              <a:t>-0.90 negative correlation</a:t>
            </a:r>
            <a:r>
              <a:rPr lang="en-US" sz="1600" dirty="0">
                <a:ea typeface="+mn-lt"/>
                <a:cs typeface="+mn-lt"/>
              </a:rPr>
              <a:t> with sleep quality, marking it as the single biggest factor influencing sleep outcomes. </a:t>
            </a:r>
            <a:endParaRPr lang="en-US" sz="1600" dirty="0"/>
          </a:p>
          <a:p>
            <a:pPr marL="114300" indent="0">
              <a:buNone/>
            </a:pPr>
            <a:endParaRPr lang="en-US" sz="1600" dirty="0"/>
          </a:p>
          <a:p>
            <a:r>
              <a:rPr lang="en-US" sz="1600" b="1" dirty="0">
                <a:ea typeface="+mn-lt"/>
                <a:cs typeface="+mn-lt"/>
              </a:rPr>
              <a:t>Significant Occupational Gap:</a:t>
            </a:r>
            <a:r>
              <a:rPr lang="en-US" sz="1600" dirty="0">
                <a:ea typeface="+mn-lt"/>
                <a:cs typeface="+mn-lt"/>
              </a:rPr>
              <a:t>  Sleep duration varies drastically by profession, ranging from </a:t>
            </a:r>
            <a:r>
              <a:rPr lang="en-US" sz="1600" b="1" dirty="0">
                <a:ea typeface="+mn-lt"/>
                <a:cs typeface="+mn-lt"/>
              </a:rPr>
              <a:t>7.99 hours</a:t>
            </a:r>
            <a:r>
              <a:rPr lang="en-US" sz="1600" dirty="0">
                <a:ea typeface="+mn-lt"/>
                <a:cs typeface="+mn-lt"/>
              </a:rPr>
              <a:t> for Engineers down to </a:t>
            </a:r>
            <a:r>
              <a:rPr lang="en-US" sz="1600" b="1" dirty="0">
                <a:ea typeface="+mn-lt"/>
                <a:cs typeface="+mn-lt"/>
              </a:rPr>
              <a:t>5.90 hours</a:t>
            </a:r>
            <a:r>
              <a:rPr lang="en-US" sz="1600" dirty="0">
                <a:ea typeface="+mn-lt"/>
                <a:cs typeface="+mn-lt"/>
              </a:rPr>
              <a:t> for Sales  Representatives—a </a:t>
            </a:r>
            <a:r>
              <a:rPr lang="en-US" sz="1600" b="1" dirty="0">
                <a:ea typeface="+mn-lt"/>
                <a:cs typeface="+mn-lt"/>
              </a:rPr>
              <a:t>2.1-hour gap</a:t>
            </a:r>
            <a:r>
              <a:rPr lang="en-US" sz="1600" dirty="0">
                <a:ea typeface="+mn-lt"/>
                <a:cs typeface="+mn-lt"/>
              </a:rPr>
              <a:t>. </a:t>
            </a:r>
            <a:endParaRPr lang="en-IN" sz="1600">
              <a:ea typeface="+mn-lt"/>
              <a:cs typeface="+mn-lt"/>
            </a:endParaRPr>
          </a:p>
          <a:p>
            <a:endParaRPr lang="en-US" sz="1600" dirty="0">
              <a:ea typeface="+mn-lt"/>
              <a:cs typeface="+mn-lt"/>
            </a:endParaRPr>
          </a:p>
          <a:p>
            <a:r>
              <a:rPr lang="en-US" sz="1600" b="1" dirty="0">
                <a:ea typeface="+mn-lt"/>
                <a:cs typeface="+mn-lt"/>
              </a:rPr>
              <a:t>Weight Impacts Blood Pressure:</a:t>
            </a:r>
            <a:r>
              <a:rPr lang="en-US" sz="1600" dirty="0">
                <a:ea typeface="+mn-lt"/>
                <a:cs typeface="+mn-lt"/>
              </a:rPr>
              <a:t>  </a:t>
            </a:r>
            <a:r>
              <a:rPr lang="en-US" sz="1600" b="1" dirty="0">
                <a:ea typeface="+mn-lt"/>
                <a:cs typeface="+mn-lt"/>
              </a:rPr>
              <a:t>88.8%</a:t>
            </a:r>
            <a:r>
              <a:rPr lang="en-US" sz="1600" dirty="0">
                <a:ea typeface="+mn-lt"/>
                <a:cs typeface="+mn-lt"/>
              </a:rPr>
              <a:t> of all participants fall into the hypertensive blood pressure category, reaching </a:t>
            </a:r>
            <a:r>
              <a:rPr lang="en-US" sz="1600" b="1" dirty="0">
                <a:ea typeface="+mn-lt"/>
                <a:cs typeface="+mn-lt"/>
              </a:rPr>
              <a:t>100%</a:t>
            </a:r>
            <a:r>
              <a:rPr lang="en-US" sz="1600" dirty="0">
                <a:ea typeface="+mn-lt"/>
                <a:cs typeface="+mn-lt"/>
              </a:rPr>
              <a:t> for individuals in Overweight and Obese BMI categories.</a:t>
            </a:r>
            <a:r>
              <a:rPr lang="en-US" dirty="0">
                <a:ea typeface="+mn-lt"/>
                <a:cs typeface="+mn-lt"/>
              </a:rPr>
              <a:t> </a:t>
            </a:r>
            <a:endParaRPr lang="en-I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32"/>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latin typeface="+mn-lt"/>
              </a:rPr>
              <a:t>FUTURE SCOPE</a:t>
            </a:r>
            <a:endParaRPr b="1" dirty="0">
              <a:latin typeface="+mn-lt"/>
            </a:endParaRPr>
          </a:p>
        </p:txBody>
      </p:sp>
      <p:sp>
        <p:nvSpPr>
          <p:cNvPr id="3" name="Text Placeholder 2">
            <a:extLst>
              <a:ext uri="{FF2B5EF4-FFF2-40B4-BE49-F238E27FC236}">
                <a16:creationId xmlns:a16="http://schemas.microsoft.com/office/drawing/2014/main" id="{BD179557-6C5D-AAC6-0CBC-A3657C636885}"/>
              </a:ext>
            </a:extLst>
          </p:cNvPr>
          <p:cNvSpPr>
            <a:spLocks noGrp="1"/>
          </p:cNvSpPr>
          <p:nvPr>
            <p:ph type="body" idx="1"/>
          </p:nvPr>
        </p:nvSpPr>
        <p:spPr>
          <a:xfrm>
            <a:off x="311700" y="1152475"/>
            <a:ext cx="7729010" cy="3416400"/>
          </a:xfrm>
        </p:spPr>
        <p:txBody>
          <a:bodyPr>
            <a:normAutofit lnSpcReduction="10000"/>
          </a:bodyPr>
          <a:lstStyle/>
          <a:p>
            <a:pPr marL="114300" indent="0" algn="just">
              <a:buNone/>
            </a:pPr>
            <a:endParaRPr lang="en-US" dirty="0">
              <a:ea typeface="+mn-lt"/>
              <a:cs typeface="+mn-lt"/>
            </a:endParaRPr>
          </a:p>
          <a:p>
            <a:pPr algn="just"/>
            <a:r>
              <a:rPr lang="en-US" dirty="0">
                <a:ea typeface="+mn-lt"/>
                <a:cs typeface="+mn-lt"/>
              </a:rPr>
              <a:t>Expand the dataset to track participants over extended timeframes to analyze seasonal variations, long-term health trends, and intervention effectiveness.</a:t>
            </a:r>
          </a:p>
          <a:p>
            <a:pPr algn="just"/>
            <a:endParaRPr lang="en-US" dirty="0"/>
          </a:p>
          <a:p>
            <a:pPr algn="just"/>
            <a:r>
              <a:rPr lang="en-US" dirty="0"/>
              <a:t>Develop machine learning models  to predict an individual's likelihood of developing Insomnia or Sleep Apnea based on daily habits and physiological metrics. </a:t>
            </a:r>
            <a:endParaRPr lang="en-US" dirty="0">
              <a:solidFill>
                <a:srgbClr val="000000"/>
              </a:solidFill>
            </a:endParaRPr>
          </a:p>
          <a:p>
            <a:pPr algn="just"/>
            <a:endParaRPr lang="en-US" dirty="0"/>
          </a:p>
          <a:p>
            <a:pPr algn="just"/>
            <a:r>
              <a:rPr lang="en-US" dirty="0">
                <a:ea typeface="+mn-lt"/>
                <a:cs typeface="+mn-lt"/>
              </a:rPr>
              <a:t>Build automated Power BI alert systems and DAX metrics that flag high-stress, low-activity occupational profiles for early workplace wellness interventions. </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26E90-F066-F1B0-2A6C-2148CBB7ADFD}"/>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CDF532B4-785A-19AD-B8EE-A2D820D71366}"/>
              </a:ext>
            </a:extLst>
          </p:cNvPr>
          <p:cNvSpPr>
            <a:spLocks noGrp="1"/>
          </p:cNvSpPr>
          <p:nvPr>
            <p:ph idx="1"/>
          </p:nvPr>
        </p:nvSpPr>
        <p:spPr>
          <a:xfrm>
            <a:off x="294641" y="1620442"/>
            <a:ext cx="8512521" cy="2910580"/>
          </a:xfrm>
        </p:spPr>
        <p:txBody>
          <a:bodyPr vert="horz" lIns="91440" tIns="45720" rIns="91440" bIns="45720" rtlCol="0" anchor="t">
            <a:normAutofit/>
          </a:bodyPr>
          <a:lstStyle/>
          <a:p>
            <a:pPr marL="0" indent="0">
              <a:buNone/>
            </a:pPr>
            <a:r>
              <a:rPr lang="en-US" b="1" dirty="0">
                <a:ea typeface="+mn-lt"/>
                <a:cs typeface="+mn-lt"/>
              </a:rPr>
              <a:t>Kaggle :</a:t>
            </a:r>
            <a:endParaRPr lang="en-US" b="1"/>
          </a:p>
          <a:p>
            <a:pPr marL="0" indent="0">
              <a:buNone/>
            </a:pPr>
            <a:r>
              <a:rPr lang="en-US" dirty="0">
                <a:ea typeface="+mn-lt"/>
                <a:cs typeface="+mn-lt"/>
              </a:rPr>
              <a:t>          [kaggle.com/datasets/uom190346a/sleep-health-and-lifestyle-dataset]</a:t>
            </a:r>
          </a:p>
          <a:p>
            <a:pPr marL="0" indent="0">
              <a:buNone/>
            </a:pPr>
            <a:r>
              <a:rPr lang="en-US" dirty="0">
                <a:ea typeface="+mn-lt"/>
                <a:cs typeface="+mn-lt"/>
              </a:rPr>
              <a:t>(https://kaggle.com/datasets/uom190346a/sleep-health-and-lifestyle-dataset)</a:t>
            </a:r>
            <a:endParaRPr lang="en-US" dirty="0"/>
          </a:p>
          <a:p>
            <a:pPr marL="0" indent="0">
              <a:buNone/>
            </a:pPr>
            <a:endParaRPr lang="en-US" dirty="0"/>
          </a:p>
          <a:p>
            <a:pPr marL="0" indent="0">
              <a:buNone/>
            </a:pPr>
            <a:endParaRPr lang="en-US" dirty="0"/>
          </a:p>
          <a:p>
            <a:pPr marL="0" indent="0">
              <a:buNone/>
            </a:pPr>
            <a:r>
              <a:rPr lang="en-US" b="1" dirty="0">
                <a:ea typeface="+mn-lt"/>
                <a:cs typeface="+mn-lt"/>
              </a:rPr>
              <a:t>Visualization :</a:t>
            </a:r>
            <a:r>
              <a:rPr lang="en-US" dirty="0">
                <a:ea typeface="+mn-lt"/>
                <a:cs typeface="+mn-lt"/>
              </a:rPr>
              <a:t> Microsoft Power BI </a:t>
            </a:r>
            <a:endParaRPr lang="en-US" dirty="0"/>
          </a:p>
        </p:txBody>
      </p:sp>
    </p:spTree>
    <p:extLst>
      <p:ext uri="{BB962C8B-B14F-4D97-AF65-F5344CB8AC3E}">
        <p14:creationId xmlns:p14="http://schemas.microsoft.com/office/powerpoint/2010/main" val="27120241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5"/>
          <p:cNvSpPr txBox="1">
            <a:spLocks noGrp="1"/>
          </p:cNvSpPr>
          <p:nvPr>
            <p:ph type="title"/>
          </p:nvPr>
        </p:nvSpPr>
        <p:spPr>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b="1">
                <a:latin typeface="Times New Roman"/>
                <a:ea typeface="Times New Roman"/>
                <a:cs typeface="Times New Roman"/>
                <a:sym typeface="Times New Roman"/>
              </a:rPr>
              <a:t>THANK YOU</a:t>
            </a:r>
            <a:endParaRPr sz="6000" b="1">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304</TotalTime>
  <Words>1094</Words>
  <Application>Microsoft Office PowerPoint</Application>
  <PresentationFormat>On-screen Show (16:9)</PresentationFormat>
  <Paragraphs>140</Paragraphs>
  <Slides>23</Slides>
  <Notes>15</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Facet</vt:lpstr>
      <vt:lpstr>WELCOME</vt:lpstr>
      <vt:lpstr>SLEEP HEALTH &amp; LIFE STYLE     ANALYSIS REPORT</vt:lpstr>
      <vt:lpstr>TABLE OF CONTENTS</vt:lpstr>
      <vt:lpstr>INTRODUCTION</vt:lpstr>
      <vt:lpstr>OBJECTIVE</vt:lpstr>
      <vt:lpstr>DATASET OVERVIEW</vt:lpstr>
      <vt:lpstr>DATASET Sleep Performance Metrix </vt:lpstr>
      <vt:lpstr>DATASET Daily Lifestyle &amp; Behaviors  </vt:lpstr>
      <vt:lpstr>DATASET Cardiovascular &amp; Physical Health</vt:lpstr>
      <vt:lpstr>KEY DETAILS Sleep Performance Overview </vt:lpstr>
      <vt:lpstr>KEY DETAILS Daily Lifestyle &amp; Behaviors Details</vt:lpstr>
      <vt:lpstr>KEY DETAILS Cardiovascular &amp; Physical Health Details</vt:lpstr>
      <vt:lpstr>CRITERIA USED — Charts</vt:lpstr>
      <vt:lpstr>CRITERIA USED — Charts</vt:lpstr>
      <vt:lpstr>CRITERIA USED — Cards &amp; Slicers</vt:lpstr>
      <vt:lpstr>CRITERIA USED — DAX Measures</vt:lpstr>
      <vt:lpstr>DASHBOARD</vt:lpstr>
      <vt:lpstr>DASHBOARD</vt:lpstr>
      <vt:lpstr>DASHBOARD</vt:lpstr>
      <vt:lpstr>CONCLUSION</vt:lpstr>
      <vt:lpstr>FUTURE SCOPE</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Enhancing SCADA Security: Developing a 
Host-Based Intrusion Detection System to 
Safeguard Against Cyberattacks</dc:title>
  <dc:creator>falha p</dc:creator>
  <cp:lastModifiedBy>Guest User</cp:lastModifiedBy>
  <cp:revision>814</cp:revision>
  <dcterms:modified xsi:type="dcterms:W3CDTF">2026-09-28T05:02:10Z</dcterms:modified>
</cp:coreProperties>
</file>